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12"/>
    <p:sldId id="257" r:id="rId11"/>
    <p:sldId id="258" r:id="rId10"/>
    <p:sldId id="259" r:id="rId9"/>
    <p:sldId id="260" r:id="rId8"/>
    <p:sldId id="261" r:id="rId7"/>
    <p:sldId id="262" r:id="rId6"/>
    <p:sldId id="263" r:id="rId5"/>
    <p:sldId id="264" r:id="rId4"/>
    <p:sldId id="265" r:id="rId3"/>
    <p:sldId id="266" r:id="rId2"/>
    <p:sldId id="267" r:id="rId26"/>
    <p:sldId id="268" r:id="rId27"/>
    <p:sldId id="269" r:id="rId28"/>
    <p:sldId id="270" r:id="rId29"/>
    <p:sldId id="271" r:id="rId30"/>
    <p:sldId id="272" r:id="rId31"/>
    <p:sldId id="273" r:id="rId32"/>
    <p:sldId id="274" r:id="rId33"/>
    <p:sldId id="275" r:id="rId34"/>
    <p:sldId id="276" r:id="rId35"/>
    <p:sldId id="277" r:id="rId36"/>
  </p:sldIdLst>
  <p:sldSz cx="18288000" cy="10287000"/>
  <p:notesSz cx="6858000" cy="9144000"/>
  <p:embeddedFontLst>
    <p:embeddedFont>
      <p:font typeface="Helvetica Neue" panose="020B0403020202020204" pitchFamily="2" charset="0"/>
      <p:regular r:id="rId14"/>
      <p:italic r:id="rId15"/>
    </p:embeddedFont>
    <p:embeddedFont>
      <p:font typeface="Inter" panose="020B0604020202020204" charset="0"/>
      <p:regular r:id="rId16"/>
    </p:embeddedFont>
    <p:embeddedFont>
      <p:font typeface="Inter Bold" panose="020B0604020202020204" charset="0"/>
      <p:regular r:id="rId17"/>
    </p:embeddedFon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265" autoAdjust="0"/>
  </p:normalViewPr>
  <p:slideViewPr>
    <p:cSldViewPr>
      <p:cViewPr varScale="1">
        <p:scale>
          <a:sx n="62" d="100"/>
          <a:sy n="62" d="100"/>
        </p:scale>
        <p:origin x="125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AA4BE-622C-4866-A5A1-8BC71F9E2ACE}"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C799C7-39D5-4660-96C3-AEF54E086F9E}" type="slidenum">
              <a:rPr lang="en-US" smtClean="0"/>
              <a:t>‹#›</a:t>
            </a:fld>
            <a:endParaRPr lang="en-US"/>
          </a:p>
        </p:txBody>
      </p:sp>
    </p:spTree>
    <p:extLst>
      <p:ext uri="{BB962C8B-B14F-4D97-AF65-F5344CB8AC3E}">
        <p14:creationId xmlns:p14="http://schemas.microsoft.com/office/powerpoint/2010/main" val="2118133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anh chị. Hôm nay chúng tôi trình bày giải pháp cho hệ thống TOSS — hệ thống VNA thuê trọn gói giai đoạn 2026–2031, gồm cả xây dựng và vận hành.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làm việc đi qua năm phần. Trọng tâm là nghiệp vụ và kỹ thuật. Anh chị cứ ngắt giữa chừng nếu có câu hỏi.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ngày trực ban phải cân ba thứ cùng lúc — chi phí nhiên liệu, giữ đúng giờ và an toàn — trong khi dữ liệu lại nằm rải ở hàng chục hệ thống. TOSS sinh ra để gom các luồng đó về một nơi, giúp người điều hành nhìn đủ bức tranh và quyết nhanh hơn.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TOSS không thay thế hệ thống nào của VNA, mà đứng trên chúng như một lớp hội tụ. Nó làm ba việc: điều hành chuyến bay với cảnh báo sớm, quản lý tài liệu đồng bộ thẳng với MO+, và báo cáo tối ưu từ một nguồn số liệu duy nhất — trong đó có cả khuyến nghị mang dầu giúp tiết kiệm chi phí.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nhóm người dùng chính, mỗi nhóm một góc nhìn và bộ quyền riêng. Hệ thống dựng trên năm nền tảng — quản lý người dùng, dữ liệu chủ, cổng API, nền tảng dữ liệu lớn và giám sát tập trung. Hai điểm anh chị quan tâm: tuân thủ Nghị định 53 và 13, và mã nguồn lẫn dữ liệu đều thuộc VNA.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phân hệ. Số 01 là lõi nơi dữ liệu hội tụ, số 04 là nguồn dữ liệu chuẩn cho cả hệ thống. Tôi đi nhanh qua từng cái.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màn hình trực ban ngồi cả ca. Mỗi chuyến hiện đủ thông tin từ giờ kế hoạch đến giờ thực tế. Điểm hay là cảnh báo bằng màu — hỏng hóc, khách VIP, chậm chuyến, thiếu phép bay đều bật lên ngay để không phải lục tìm.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Gộp hai phân hệ liên quan. Phần tài liệu biến cả tập hồ sơ giấy thành quy trình số, tổ bay xác nhận ngay trên điện thoại, và luôn có kênh dự phòng để không tắc trước giờ bay. Phần báo cáo, vì số liệu đã sạch và về một mối nên rất đáng tin — mạnh nhất là phân tích nhiên liệu và đúng giờ, đúng cái lãnh đạo cần.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danh mục giữ một nguồn sự thật duy nhất, tránh mỗi nơi một bản dữ liệu lệch nhau. Phân hệ quản trị lo bảo mật — phân quyền chi tiết tới từng API, và điểm khác biệt là đổi quyền là chặn được ngay, không phải chờ token hết hạn.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kiến trúc tổng thể. Người dùng vào từ trên cùng, qua các kênh Web/Mobile, rồi tất cả đi qua một Gateway chung. Khối ứng dụng chính là năm phân hệ nghiệp vụ ta vừa xem. Bên phải có chừa sẵn lớp AI/ML. Hai điểm đáng chú ý: mọi thứ tích hợp qua một cổng chung nên dễ kiểm soát, và dữ liệu vận hành tách khỏi dữ liệu phân tích để report không làm chậm điều hành.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triển khai chi tiết, cho thấy độ chín của giải pháp. Ba vùng tách biệt rõ — ngoài, DMZ và nội bộ. Người dùng đi qua tường lửa, NGINX, rồi cổng API và dịch vụ xác thực Keycloak. Khối tích hợp gồm MinIO, Redis, Kafka. Dữ liệu chia theo miền, mỗi miền một cơ sở dữ liệu chạy một ghi nhiều đọc. Bên cạnh là giám sát và CI/CD. Toàn bộ là công nghệ mã nguồn mở Viettel đã vận hành thật.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Gộp ba mảng kỹ thuật còn lại. Toàn bộ công nghệ là mã nguồn mở, phổ biến, Viettel đã chạy thật nhiều dự án nên rủi ro thấp. Bảo mật làm nhiều lớp, đạt an toàn thông tin cấp độ 3. Vận hành trực 24/7 với giám sát chủ động, phát hiện trục trặc trước khi người dùng thấy, cam kết sẵn sàng tối thiểu 99%, và có sao lưu để khôi phục về đúng thời điểm trước sự cố.</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Cấu hình bám đúng yêu cầu hồ sơ VNA — 200 người dùng đồng thời, 500 request mỗi giây, 5 TB dữ liệu — và đã tính dư cho dự phòng cùng mở rộng về sau. Chi tiết bóc tách có đầy đủ trong tài liệu kỹ thuật nếu anh chị cần xem.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 hoạch triển khai gọn trong sáu tháng, từ tháng 6 đến tháng 11 năm 2026, trình bày dạng Gantt cho các anh dễ theo dõi. Bốn giai đoạn nối tiếp: khảo sát, phát triển và tích hợp, đào tạo và nghiệm thu, rồi go-live và ổn định trong tháng 11. Màu thanh cho biết bên chịu trách nhiệm — xanh là VTIT, lục là VNA, cam là cả hai cùng làm. Sau khi go-live là giai đoạn vận hành kéo dài 5 năm. Các mốc cụ thể chúng tôi sẽ chốt lại cùng đội dự 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phía rõ ràng: VNA chủ trì nghiệp vụ và giữ quyền duyệt ở các điểm trọng yếu, Viettel chủ trì xây dựng và vận hành với đội trực 24/7. Hai bên gặp nhau ở hội đồng thay đổi chung và review định kỳ hàng tuần. Ranh giới rõ thì phối hợp đỡ vướng. (Chi tiết nhân sự cần điền theo hợp đồng.)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nhấn năng lực đội ngũ, tập trung vào kinh nghiệm trong ngành hàng không — đây là điểm các sếp quan tâm. Đội ngũ VTIT đã làm hệ thống cho lĩnh vực hàng không và điều hành khai thác, từng hợp tác với hãng bay nên hiểu quy trình thực tế, và có kinh nghiệm tích hợp với các hệ thống chuyên ngành như AMOS, LIDO. Về công nghệ lõi thì microservices, cloud, dữ liệu lớn và bảo mật đều đã được Viettel chứng minh ở các dự án lớn. (Các phần trong ngoặc cần điền số liệu và tên dự án thực tế trước khi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TOSS gom dữ liệu vốn rải rác về một chỗ để điều hành nhìn đủ và quyết nhanh, mang lại tiết kiệm cụ thể, kiến trúc mở dùng được lâu dài, an toàn và tuân thủ, dữ liệu thuộc VNA. Và chúng tôi cam kết đồng hành vận hành suốt năm năm.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anh chị. Mời đặt câu hỏi. Những điểm cần làm rõ chúng tôi sẽ ghi nhận và thống nhất bước tiếp theo.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02870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2926080"/>
            <a:ext cx="15544800" cy="1463040"/>
          </a:xfrm>
          <a:prstGeom prst="rect">
            <a:avLst/>
          </a:prstGeom>
          <a:noFill/>
        </p:spPr>
        <p:txBody>
          <a:bodyPr wrap="square" anchor="t" lIns="0" rIns="0" tIns="0" bIns="0">
            <a:spAutoFit/>
          </a:bodyPr>
          <a:lstStyle/>
          <a:p>
            <a:pPr algn="l">
              <a:spcAft>
                <a:spcPts val="300"/>
              </a:spcAft>
            </a:pPr>
            <a:r>
              <a:rPr sz="9600" b="1">
                <a:solidFill>
                  <a:srgbClr val="FFFFFF"/>
                </a:solidFill>
                <a:latin typeface="Inter"/>
              </a:rPr>
              <a:t>TOSS</a:t>
            </a:r>
          </a:p>
        </p:txBody>
      </p:sp>
      <p:sp>
        <p:nvSpPr>
          <p:cNvPr id="5" name="Rectangle 4"/>
          <p:cNvSpPr/>
          <p:nvPr/>
        </p:nvSpPr>
        <p:spPr>
          <a:xfrm>
            <a:off x="1554480" y="4526280"/>
            <a:ext cx="2926080" cy="91440"/>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754880"/>
            <a:ext cx="15544800" cy="914400"/>
          </a:xfrm>
          <a:prstGeom prst="rect">
            <a:avLst/>
          </a:prstGeom>
          <a:noFill/>
        </p:spPr>
        <p:txBody>
          <a:bodyPr wrap="square" anchor="t" lIns="0" rIns="0" tIns="0" bIns="0">
            <a:spAutoFit/>
          </a:bodyPr>
          <a:lstStyle/>
          <a:p>
            <a:pPr algn="l">
              <a:spcAft>
                <a:spcPts val="300"/>
              </a:spcAft>
            </a:pPr>
            <a:r>
              <a:rPr sz="3800" b="1">
                <a:solidFill>
                  <a:srgbClr val="EAF4F8"/>
                </a:solidFill>
                <a:latin typeface="Inter"/>
              </a:rPr>
              <a:t>Hệ thống Tối ưu Điều hành Khai thác</a:t>
            </a:r>
          </a:p>
        </p:txBody>
      </p:sp>
      <p:sp>
        <p:nvSpPr>
          <p:cNvPr id="7" name="TextBox 6"/>
          <p:cNvSpPr txBox="1"/>
          <p:nvPr/>
        </p:nvSpPr>
        <p:spPr>
          <a:xfrm>
            <a:off x="1508760" y="5669280"/>
            <a:ext cx="15544800" cy="640080"/>
          </a:xfrm>
          <a:prstGeom prst="rect">
            <a:avLst/>
          </a:prstGeom>
          <a:noFill/>
        </p:spPr>
        <p:txBody>
          <a:bodyPr wrap="square" anchor="t" lIns="0" rIns="0" tIns="0" bIns="0">
            <a:spAutoFit/>
          </a:bodyPr>
          <a:lstStyle/>
          <a:p>
            <a:pPr algn="l">
              <a:spcAft>
                <a:spcPts val="300"/>
              </a:spcAft>
            </a:pPr>
            <a:r>
              <a:rPr sz="2200" b="0">
                <a:solidFill>
                  <a:srgbClr val="9FC6D4"/>
                </a:solidFill>
                <a:latin typeface="Inter"/>
              </a:rPr>
              <a:t>Transformative Operations Support System</a:t>
            </a:r>
          </a:p>
        </p:txBody>
      </p:sp>
      <p:sp>
        <p:nvSpPr>
          <p:cNvPr id="8" name="TextBox 7"/>
          <p:cNvSpPr txBox="1"/>
          <p:nvPr/>
        </p:nvSpPr>
        <p:spPr>
          <a:xfrm>
            <a:off x="1463040" y="7955279"/>
            <a:ext cx="15544800" cy="1097280"/>
          </a:xfrm>
          <a:prstGeom prst="rect">
            <a:avLst/>
          </a:prstGeom>
          <a:noFill/>
        </p:spPr>
        <p:txBody>
          <a:bodyPr wrap="square" anchor="t" lIns="0" rIns="0" tIns="0" bIns="0">
            <a:spAutoFit/>
          </a:bodyPr>
          <a:lstStyle/>
          <a:p>
            <a:pPr algn="l">
              <a:spcAft>
                <a:spcPts val="600"/>
              </a:spcAft>
            </a:pPr>
            <a:r>
              <a:rPr sz="2000" b="0">
                <a:solidFill>
                  <a:srgbClr val="FFFFFF"/>
                </a:solidFill>
                <a:latin typeface="Inter"/>
              </a:rPr>
              <a:t>Trình bày giải pháp · Kick-off {{NGÀY}}</a:t>
            </a:r>
          </a:p>
          <a:p>
            <a:pPr algn="l">
              <a:spcAft>
                <a:spcPts val="300"/>
              </a:spcAft>
            </a:pPr>
            <a:r>
              <a:rPr sz="1800" b="0">
                <a:solidFill>
                  <a:srgbClr val="9FC6D4"/>
                </a:solidFill>
                <a:latin typeface="Inter"/>
              </a:rPr>
              <a:t>VTIT — Công ty TNHH MTV Đầu tư Công nghệ Viettel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NỘI DUNG TRÌNH BÀY</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Buổi làm việc đi qua 5 phần</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651760"/>
            <a:ext cx="1097280" cy="960120"/>
          </a:xfrm>
          <a:prstGeom prst="roundRect">
            <a:avLst>
              <a:gd name="adj" fmla="val 18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01</a:t>
            </a:r>
          </a:p>
        </p:txBody>
      </p:sp>
      <p:sp>
        <p:nvSpPr>
          <p:cNvPr id="7" name="TextBox 6"/>
          <p:cNvSpPr txBox="1"/>
          <p:nvPr/>
        </p:nvSpPr>
        <p:spPr>
          <a:xfrm>
            <a:off x="2286000" y="2651760"/>
            <a:ext cx="13716000" cy="960120"/>
          </a:xfrm>
          <a:prstGeom prst="rect">
            <a:avLst/>
          </a:prstGeom>
          <a:noFill/>
        </p:spPr>
        <p:txBody>
          <a:bodyPr wrap="square" anchor="ctr" lIns="0" rIns="0" tIns="0" bIns="0">
            <a:spAutoFit/>
          </a:bodyPr>
          <a:lstStyle/>
          <a:p>
            <a:pPr algn="l">
              <a:spcAft>
                <a:spcPts val="300"/>
              </a:spcAft>
            </a:pPr>
            <a:r>
              <a:rPr sz="2600" b="1">
                <a:solidFill>
                  <a:srgbClr val="344054"/>
                </a:solidFill>
                <a:latin typeface="Inter"/>
              </a:rPr>
              <a:t>Tổng quan</a:t>
            </a:r>
          </a:p>
        </p:txBody>
      </p:sp>
      <p:sp>
        <p:nvSpPr>
          <p:cNvPr id="8" name="Rounded Rectangle 7"/>
          <p:cNvSpPr/>
          <p:nvPr/>
        </p:nvSpPr>
        <p:spPr>
          <a:xfrm>
            <a:off x="914400" y="3858768"/>
            <a:ext cx="1097280" cy="960120"/>
          </a:xfrm>
          <a:prstGeom prst="roundRect">
            <a:avLst>
              <a:gd name="adj" fmla="val 18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02</a:t>
            </a:r>
          </a:p>
        </p:txBody>
      </p:sp>
      <p:sp>
        <p:nvSpPr>
          <p:cNvPr id="9" name="TextBox 8"/>
          <p:cNvSpPr txBox="1"/>
          <p:nvPr/>
        </p:nvSpPr>
        <p:spPr>
          <a:xfrm>
            <a:off x="2286000" y="3858768"/>
            <a:ext cx="13716000" cy="960120"/>
          </a:xfrm>
          <a:prstGeom prst="rect">
            <a:avLst/>
          </a:prstGeom>
          <a:noFill/>
        </p:spPr>
        <p:txBody>
          <a:bodyPr wrap="square" anchor="ctr" lIns="0" rIns="0" tIns="0" bIns="0">
            <a:spAutoFit/>
          </a:bodyPr>
          <a:lstStyle/>
          <a:p>
            <a:pPr algn="l">
              <a:spcAft>
                <a:spcPts val="300"/>
              </a:spcAft>
            </a:pPr>
            <a:r>
              <a:rPr sz="2600" b="1">
                <a:solidFill>
                  <a:srgbClr val="344054"/>
                </a:solidFill>
                <a:latin typeface="Inter"/>
              </a:rPr>
              <a:t>Các module nghiệp vụ</a:t>
            </a:r>
          </a:p>
        </p:txBody>
      </p:sp>
      <p:sp>
        <p:nvSpPr>
          <p:cNvPr id="10" name="Rounded Rectangle 9"/>
          <p:cNvSpPr/>
          <p:nvPr/>
        </p:nvSpPr>
        <p:spPr>
          <a:xfrm>
            <a:off x="914400" y="5065776"/>
            <a:ext cx="1097280" cy="960120"/>
          </a:xfrm>
          <a:prstGeom prst="roundRect">
            <a:avLst>
              <a:gd name="adj" fmla="val 18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03</a:t>
            </a:r>
          </a:p>
        </p:txBody>
      </p:sp>
      <p:sp>
        <p:nvSpPr>
          <p:cNvPr id="11" name="TextBox 10"/>
          <p:cNvSpPr txBox="1"/>
          <p:nvPr/>
        </p:nvSpPr>
        <p:spPr>
          <a:xfrm>
            <a:off x="2286000" y="5065776"/>
            <a:ext cx="13716000" cy="960120"/>
          </a:xfrm>
          <a:prstGeom prst="rect">
            <a:avLst/>
          </a:prstGeom>
          <a:noFill/>
        </p:spPr>
        <p:txBody>
          <a:bodyPr wrap="square" anchor="ctr" lIns="0" rIns="0" tIns="0" bIns="0">
            <a:spAutoFit/>
          </a:bodyPr>
          <a:lstStyle/>
          <a:p>
            <a:pPr algn="l">
              <a:spcAft>
                <a:spcPts val="300"/>
              </a:spcAft>
            </a:pPr>
            <a:r>
              <a:rPr sz="2600" b="1">
                <a:solidFill>
                  <a:srgbClr val="344054"/>
                </a:solidFill>
                <a:latin typeface="Inter"/>
              </a:rPr>
              <a:t>Kiến trúc &amp; công nghệ</a:t>
            </a:r>
          </a:p>
        </p:txBody>
      </p:sp>
      <p:sp>
        <p:nvSpPr>
          <p:cNvPr id="12" name="Rounded Rectangle 11"/>
          <p:cNvSpPr/>
          <p:nvPr/>
        </p:nvSpPr>
        <p:spPr>
          <a:xfrm>
            <a:off x="914400" y="6272783"/>
            <a:ext cx="1097280" cy="960120"/>
          </a:xfrm>
          <a:prstGeom prst="roundRect">
            <a:avLst>
              <a:gd name="adj" fmla="val 18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04</a:t>
            </a:r>
          </a:p>
        </p:txBody>
      </p:sp>
      <p:sp>
        <p:nvSpPr>
          <p:cNvPr id="13" name="TextBox 12"/>
          <p:cNvSpPr txBox="1"/>
          <p:nvPr/>
        </p:nvSpPr>
        <p:spPr>
          <a:xfrm>
            <a:off x="2286000" y="6272783"/>
            <a:ext cx="13716000" cy="960120"/>
          </a:xfrm>
          <a:prstGeom prst="rect">
            <a:avLst/>
          </a:prstGeom>
          <a:noFill/>
        </p:spPr>
        <p:txBody>
          <a:bodyPr wrap="square" anchor="ctr" lIns="0" rIns="0" tIns="0" bIns="0">
            <a:spAutoFit/>
          </a:bodyPr>
          <a:lstStyle/>
          <a:p>
            <a:pPr algn="l">
              <a:spcAft>
                <a:spcPts val="300"/>
              </a:spcAft>
            </a:pPr>
            <a:r>
              <a:rPr sz="2600" b="1">
                <a:solidFill>
                  <a:srgbClr val="344054"/>
                </a:solidFill>
                <a:latin typeface="Inter"/>
              </a:rPr>
              <a:t>Triển khai &amp; nhân sự</a:t>
            </a:r>
          </a:p>
        </p:txBody>
      </p:sp>
      <p:sp>
        <p:nvSpPr>
          <p:cNvPr id="14" name="Rounded Rectangle 13"/>
          <p:cNvSpPr/>
          <p:nvPr/>
        </p:nvSpPr>
        <p:spPr>
          <a:xfrm>
            <a:off x="914400" y="7479792"/>
            <a:ext cx="1097280" cy="960120"/>
          </a:xfrm>
          <a:prstGeom prst="roundRect">
            <a:avLst>
              <a:gd name="adj" fmla="val 18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05</a:t>
            </a:r>
          </a:p>
        </p:txBody>
      </p:sp>
      <p:sp>
        <p:nvSpPr>
          <p:cNvPr id="15" name="TextBox 14"/>
          <p:cNvSpPr txBox="1"/>
          <p:nvPr/>
        </p:nvSpPr>
        <p:spPr>
          <a:xfrm>
            <a:off x="2286000" y="7479792"/>
            <a:ext cx="13716000" cy="960120"/>
          </a:xfrm>
          <a:prstGeom prst="rect">
            <a:avLst/>
          </a:prstGeom>
          <a:noFill/>
        </p:spPr>
        <p:txBody>
          <a:bodyPr wrap="square" anchor="ctr" lIns="0" rIns="0" tIns="0" bIns="0">
            <a:spAutoFit/>
          </a:bodyPr>
          <a:lstStyle/>
          <a:p>
            <a:pPr algn="l">
              <a:spcAft>
                <a:spcPts val="300"/>
              </a:spcAft>
            </a:pPr>
            <a:r>
              <a:rPr sz="2600" b="1">
                <a:solidFill>
                  <a:srgbClr val="344054"/>
                </a:solidFill>
                <a:latin typeface="Inter"/>
              </a:rPr>
              <a:t>Trao đổi</a:t>
            </a:r>
          </a:p>
        </p:txBody>
      </p:sp>
      <p:sp>
        <p:nvSpPr>
          <p:cNvPr id="16" name="TextBox 15"/>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7" name="TextBox 16"/>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834640"/>
            <a:ext cx="1280160" cy="146304"/>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108960"/>
            <a:ext cx="14630400" cy="1828800"/>
          </a:xfrm>
          <a:prstGeom prst="rect">
            <a:avLst/>
          </a:prstGeom>
          <a:noFill/>
        </p:spPr>
        <p:txBody>
          <a:bodyPr wrap="square" anchor="t" lIns="0" rIns="0" tIns="0" bIns="0">
            <a:spAutoFit/>
          </a:bodyPr>
          <a:lstStyle/>
          <a:p>
            <a:pPr algn="l">
              <a:spcAft>
                <a:spcPts val="300"/>
              </a:spcAft>
            </a:pPr>
            <a:r>
              <a:rPr sz="13000" b="1">
                <a:solidFill>
                  <a:srgbClr val="0090B3"/>
                </a:solidFill>
                <a:latin typeface="Inter"/>
              </a:rPr>
              <a:t>01</a:t>
            </a:r>
          </a:p>
        </p:txBody>
      </p:sp>
      <p:sp>
        <p:nvSpPr>
          <p:cNvPr id="5" name="TextBox 4"/>
          <p:cNvSpPr txBox="1"/>
          <p:nvPr/>
        </p:nvSpPr>
        <p:spPr>
          <a:xfrm>
            <a:off x="1417320" y="5486400"/>
            <a:ext cx="15544800" cy="1097280"/>
          </a:xfrm>
          <a:prstGeom prst="rect">
            <a:avLst/>
          </a:prstGeom>
          <a:noFill/>
        </p:spPr>
        <p:txBody>
          <a:bodyPr wrap="square" anchor="t" lIns="0" rIns="0" tIns="0" bIns="0">
            <a:spAutoFit/>
          </a:bodyPr>
          <a:lstStyle/>
          <a:p>
            <a:pPr algn="l">
              <a:spcAft>
                <a:spcPts val="300"/>
              </a:spcAft>
            </a:pPr>
            <a:r>
              <a:rPr sz="5000" b="1">
                <a:solidFill>
                  <a:srgbClr val="FFFFFF"/>
                </a:solidFill>
                <a:latin typeface="Inter"/>
              </a:rPr>
              <a:t>Tổng quan</a:t>
            </a:r>
          </a:p>
        </p:txBody>
      </p:sp>
      <p:sp>
        <p:nvSpPr>
          <p:cNvPr id="6" name="TextBox 5"/>
          <p:cNvSpPr txBox="1"/>
          <p:nvPr/>
        </p:nvSpPr>
        <p:spPr>
          <a:xfrm>
            <a:off x="1417320" y="6492240"/>
            <a:ext cx="15544800" cy="731520"/>
          </a:xfrm>
          <a:prstGeom prst="rect">
            <a:avLst/>
          </a:prstGeom>
          <a:noFill/>
        </p:spPr>
        <p:txBody>
          <a:bodyPr wrap="square" anchor="t" lIns="0" rIns="0" tIns="0" bIns="0">
            <a:spAutoFit/>
          </a:bodyPr>
          <a:lstStyle/>
          <a:p>
            <a:pPr algn="l">
              <a:spcAft>
                <a:spcPts val="300"/>
              </a:spcAft>
            </a:pPr>
            <a:r>
              <a:rPr sz="2400" b="0">
                <a:solidFill>
                  <a:srgbClr val="9FC6D4"/>
                </a:solidFill>
                <a:latin typeface="Inter"/>
              </a:rPr>
              <a:t>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01 · TỔNG QUAN</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Vì sao cần TOSS</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77440"/>
            <a:ext cx="8686800" cy="4572000"/>
          </a:xfrm>
          <a:prstGeom prst="rect">
            <a:avLst/>
          </a:prstGeom>
          <a:noFill/>
        </p:spPr>
        <p:txBody>
          <a:bodyPr wrap="square" anchor="t" lIns="0" rIns="0" tIns="0" bIns="0">
            <a:spAutoFit/>
          </a:bodyPr>
          <a:lstStyle/>
          <a:p>
            <a:pPr algn="l">
              <a:lnSpc>
                <a:spcPct val="102000"/>
              </a:lnSpc>
              <a:spcAft>
                <a:spcPts val="1400"/>
              </a:spcAft>
            </a:pPr>
            <a:r>
              <a:rPr sz="2100" b="1">
                <a:solidFill>
                  <a:srgbClr val="0090B3"/>
                </a:solidFill>
                <a:latin typeface="Inter"/>
              </a:rPr>
              <a:t>•  </a:t>
            </a:r>
            <a:r>
              <a:rPr sz="2100" b="0">
                <a:solidFill>
                  <a:srgbClr val="344054"/>
                </a:solidFill>
                <a:latin typeface="Inter"/>
              </a:rPr>
              <a:t>Điều hành bay đang chuyển từ xử lý sự vụ sang quyết định dựa trên dữ liệu</a:t>
            </a:r>
          </a:p>
          <a:p>
            <a:pPr algn="l">
              <a:lnSpc>
                <a:spcPct val="102000"/>
              </a:lnSpc>
              <a:spcAft>
                <a:spcPts val="1400"/>
              </a:spcAft>
            </a:pPr>
            <a:r>
              <a:rPr sz="2100" b="1">
                <a:solidFill>
                  <a:srgbClr val="0090B3"/>
                </a:solidFill>
                <a:latin typeface="Inter"/>
              </a:rPr>
              <a:t>•  </a:t>
            </a:r>
            <a:r>
              <a:rPr sz="2100" b="0">
                <a:solidFill>
                  <a:srgbClr val="344054"/>
                </a:solidFill>
                <a:latin typeface="Inter"/>
              </a:rPr>
              <a:t>Ba sức ép thường trực: nhiên liệu · đúng giờ · an toàn</a:t>
            </a:r>
          </a:p>
          <a:p>
            <a:pPr algn="l">
              <a:lnSpc>
                <a:spcPct val="102000"/>
              </a:lnSpc>
              <a:spcAft>
                <a:spcPts val="1400"/>
              </a:spcAft>
            </a:pPr>
            <a:r>
              <a:rPr sz="2100" b="1">
                <a:solidFill>
                  <a:srgbClr val="0090B3"/>
                </a:solidFill>
                <a:latin typeface="Inter"/>
              </a:rPr>
              <a:t>•  </a:t>
            </a:r>
            <a:r>
              <a:rPr sz="2100" b="0">
                <a:solidFill>
                  <a:srgbClr val="344054"/>
                </a:solidFill>
                <a:latin typeface="Inter"/>
              </a:rPr>
              <a:t>Dữ liệu rải khắp nhiều hệ thống → quyết định chậm</a:t>
            </a:r>
          </a:p>
        </p:txBody>
      </p:sp>
      <p:sp>
        <p:nvSpPr>
          <p:cNvPr id="7" name="Rounded Rectangle 6"/>
          <p:cNvSpPr/>
          <p:nvPr/>
        </p:nvSpPr>
        <p:spPr>
          <a:xfrm>
            <a:off x="914400" y="5852160"/>
            <a:ext cx="8686800" cy="155448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54864" bIns="54864"/>
          <a:lstStyle/>
          <a:p>
            <a:pPr algn="l">
              <a:spcAft>
                <a:spcPts val="400"/>
              </a:spcAft>
            </a:pPr>
            <a:r>
              <a:rPr sz="2400" b="1">
                <a:solidFill>
                  <a:srgbClr val="003E54"/>
                </a:solidFill>
                <a:latin typeface="Inter"/>
              </a:rPr>
              <a:t>TOSS gom dữ liệu về một chỗ</a:t>
            </a:r>
          </a:p>
          <a:p>
            <a:pPr algn="l">
              <a:spcAft>
                <a:spcPts val="300"/>
              </a:spcAft>
            </a:pPr>
            <a:r>
              <a:rPr sz="1900" b="0">
                <a:solidFill>
                  <a:srgbClr val="667085"/>
                </a:solidFill>
                <a:latin typeface="Inter"/>
              </a:rPr>
              <a:t>Nhìn đủ bức tranh — quyết định nhanh hơn.</a:t>
            </a:r>
          </a:p>
        </p:txBody>
      </p:sp>
      <p:sp>
        <p:nvSpPr>
          <p:cNvPr id="8" name="Rounded Rectangle 7"/>
          <p:cNvSpPr/>
          <p:nvPr/>
        </p:nvSpPr>
        <p:spPr>
          <a:xfrm>
            <a:off x="10241280" y="2651760"/>
            <a:ext cx="2011680" cy="82296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600" b="1">
                <a:solidFill>
                  <a:srgbClr val="344054"/>
                </a:solidFill>
                <a:latin typeface="Inter"/>
              </a:rPr>
              <a:t>Ops++</a:t>
            </a:r>
          </a:p>
        </p:txBody>
      </p:sp>
      <p:sp>
        <p:nvSpPr>
          <p:cNvPr id="9" name="Rounded Rectangle 8"/>
          <p:cNvSpPr/>
          <p:nvPr/>
        </p:nvSpPr>
        <p:spPr>
          <a:xfrm>
            <a:off x="12481559" y="2651760"/>
            <a:ext cx="2011680" cy="82296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600" b="1">
                <a:solidFill>
                  <a:srgbClr val="344054"/>
                </a:solidFill>
                <a:latin typeface="Inter"/>
              </a:rPr>
              <a:t>AVES</a:t>
            </a:r>
          </a:p>
        </p:txBody>
      </p:sp>
      <p:sp>
        <p:nvSpPr>
          <p:cNvPr id="10" name="Rounded Rectangle 9"/>
          <p:cNvSpPr/>
          <p:nvPr/>
        </p:nvSpPr>
        <p:spPr>
          <a:xfrm>
            <a:off x="14721840" y="2651760"/>
            <a:ext cx="2011680" cy="82296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600" b="1">
                <a:solidFill>
                  <a:srgbClr val="344054"/>
                </a:solidFill>
                <a:latin typeface="Inter"/>
              </a:rPr>
              <a:t>AMOS</a:t>
            </a:r>
          </a:p>
        </p:txBody>
      </p:sp>
      <p:sp>
        <p:nvSpPr>
          <p:cNvPr id="11" name="Rounded Rectangle 10"/>
          <p:cNvSpPr/>
          <p:nvPr/>
        </p:nvSpPr>
        <p:spPr>
          <a:xfrm>
            <a:off x="10241280" y="3703320"/>
            <a:ext cx="2011680" cy="82296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600" b="1">
                <a:solidFill>
                  <a:srgbClr val="344054"/>
                </a:solidFill>
                <a:latin typeface="Inter"/>
              </a:rPr>
              <a:t>MO+</a:t>
            </a:r>
          </a:p>
        </p:txBody>
      </p:sp>
      <p:sp>
        <p:nvSpPr>
          <p:cNvPr id="12" name="Rounded Rectangle 11"/>
          <p:cNvSpPr/>
          <p:nvPr/>
        </p:nvSpPr>
        <p:spPr>
          <a:xfrm>
            <a:off x="12481559" y="3703320"/>
            <a:ext cx="2011680" cy="82296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600" b="1">
                <a:solidFill>
                  <a:srgbClr val="344054"/>
                </a:solidFill>
                <a:latin typeface="Inter"/>
              </a:rPr>
              <a:t>LIDO</a:t>
            </a:r>
          </a:p>
        </p:txBody>
      </p:sp>
      <p:sp>
        <p:nvSpPr>
          <p:cNvPr id="13" name="Down Arrow 12"/>
          <p:cNvSpPr/>
          <p:nvPr/>
        </p:nvSpPr>
        <p:spPr>
          <a:xfrm>
            <a:off x="12252960" y="4937760"/>
            <a:ext cx="1828800" cy="822960"/>
          </a:xfrm>
          <a:prstGeom prst="downArrow">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424160" y="6126480"/>
            <a:ext cx="5486400" cy="1280160"/>
          </a:xfrm>
          <a:prstGeom prst="roundRect">
            <a:avLst>
              <a:gd name="adj" fmla="val 6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FFFFF"/>
                </a:solidFill>
                <a:latin typeface="Inter"/>
              </a:rPr>
              <a:t>TOSS</a:t>
            </a:r>
          </a:p>
        </p:txBody>
      </p:sp>
      <p:sp>
        <p:nvSpPr>
          <p:cNvPr id="15" name="TextBox 14"/>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6" name="TextBox 15"/>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01 · TỔNG QUAN</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TOSS là gì — làm ba việc chính</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31720"/>
            <a:ext cx="16459200" cy="731520"/>
          </a:xfrm>
          <a:prstGeom prst="rect">
            <a:avLst/>
          </a:prstGeom>
          <a:noFill/>
        </p:spPr>
        <p:txBody>
          <a:bodyPr wrap="square" anchor="t" lIns="0" rIns="0" tIns="0" bIns="0">
            <a:spAutoFit/>
          </a:bodyPr>
          <a:lstStyle/>
          <a:p>
            <a:pPr algn="l">
              <a:spcAft>
                <a:spcPts val="300"/>
              </a:spcAft>
            </a:pPr>
            <a:r>
              <a:rPr sz="2000" b="0">
                <a:solidFill>
                  <a:srgbClr val="344054"/>
                </a:solidFill>
                <a:latin typeface="Inter"/>
              </a:rPr>
              <a:t>Một lớp hội tụ trên các hệ thống VNA đang dùng </a:t>
            </a:r>
            <a:r>
              <a:rPr sz="2000" b="1">
                <a:solidFill>
                  <a:srgbClr val="0090B3"/>
                </a:solidFill>
                <a:latin typeface="Inter"/>
              </a:rPr>
              <a:t>(Ops++, AVES, AMOS, MO+, LIDO…)</a:t>
            </a:r>
          </a:p>
        </p:txBody>
      </p:sp>
      <p:sp>
        <p:nvSpPr>
          <p:cNvPr id="7" name="Rounded Rectangle 6"/>
          <p:cNvSpPr/>
          <p:nvPr/>
        </p:nvSpPr>
        <p:spPr>
          <a:xfrm>
            <a:off x="914400" y="3383280"/>
            <a:ext cx="5212080" cy="384048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8" name="Oval 7"/>
          <p:cNvSpPr/>
          <p:nvPr/>
        </p:nvSpPr>
        <p:spPr>
          <a:xfrm>
            <a:off x="1280160" y="3794760"/>
            <a:ext cx="914400" cy="914400"/>
          </a:xfrm>
          <a:prstGeom prst="ellipse">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1</a:t>
            </a:r>
          </a:p>
        </p:txBody>
      </p:sp>
      <p:sp>
        <p:nvSpPr>
          <p:cNvPr id="9" name="TextBox 8"/>
          <p:cNvSpPr txBox="1"/>
          <p:nvPr/>
        </p:nvSpPr>
        <p:spPr>
          <a:xfrm>
            <a:off x="1325880" y="4937760"/>
            <a:ext cx="4389120" cy="914400"/>
          </a:xfrm>
          <a:prstGeom prst="rect">
            <a:avLst/>
          </a:prstGeom>
          <a:noFill/>
        </p:spPr>
        <p:txBody>
          <a:bodyPr wrap="square" anchor="t" lIns="0" rIns="0" tIns="0" bIns="0">
            <a:spAutoFit/>
          </a:bodyPr>
          <a:lstStyle/>
          <a:p>
            <a:pPr algn="l">
              <a:spcAft>
                <a:spcPts val="300"/>
              </a:spcAft>
            </a:pPr>
            <a:r>
              <a:rPr sz="2300" b="1">
                <a:solidFill>
                  <a:srgbClr val="003E54"/>
                </a:solidFill>
                <a:latin typeface="Inter"/>
              </a:rPr>
              <a:t>Điều hành chuyến bay</a:t>
            </a:r>
          </a:p>
        </p:txBody>
      </p:sp>
      <p:sp>
        <p:nvSpPr>
          <p:cNvPr id="10" name="TextBox 9"/>
          <p:cNvSpPr txBox="1"/>
          <p:nvPr/>
        </p:nvSpPr>
        <p:spPr>
          <a:xfrm>
            <a:off x="1325880" y="5715000"/>
            <a:ext cx="4389120" cy="1280160"/>
          </a:xfrm>
          <a:prstGeom prst="rect">
            <a:avLst/>
          </a:prstGeom>
          <a:noFill/>
        </p:spPr>
        <p:txBody>
          <a:bodyPr wrap="square" anchor="t" lIns="0" rIns="0" tIns="0" bIns="0">
            <a:spAutoFit/>
          </a:bodyPr>
          <a:lstStyle/>
          <a:p>
            <a:pPr algn="l">
              <a:lnSpc>
                <a:spcPct val="105000"/>
              </a:lnSpc>
              <a:spcAft>
                <a:spcPts val="300"/>
              </a:spcAft>
            </a:pPr>
            <a:r>
              <a:rPr sz="1800" b="0">
                <a:solidFill>
                  <a:srgbClr val="667085"/>
                </a:solidFill>
                <a:latin typeface="Inter"/>
              </a:rPr>
              <a:t>Gom mọi thông tin chuyến bay, cảnh báo bất thường sớm.</a:t>
            </a:r>
          </a:p>
        </p:txBody>
      </p:sp>
      <p:sp>
        <p:nvSpPr>
          <p:cNvPr id="11" name="Rounded Rectangle 10"/>
          <p:cNvSpPr/>
          <p:nvPr/>
        </p:nvSpPr>
        <p:spPr>
          <a:xfrm>
            <a:off x="6629400" y="3383280"/>
            <a:ext cx="5212080" cy="384048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2" name="Oval 11"/>
          <p:cNvSpPr/>
          <p:nvPr/>
        </p:nvSpPr>
        <p:spPr>
          <a:xfrm>
            <a:off x="6995160" y="3794760"/>
            <a:ext cx="914400" cy="914400"/>
          </a:xfrm>
          <a:prstGeom prst="ellipse">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2</a:t>
            </a:r>
          </a:p>
        </p:txBody>
      </p:sp>
      <p:sp>
        <p:nvSpPr>
          <p:cNvPr id="13" name="TextBox 12"/>
          <p:cNvSpPr txBox="1"/>
          <p:nvPr/>
        </p:nvSpPr>
        <p:spPr>
          <a:xfrm>
            <a:off x="7040880" y="4937760"/>
            <a:ext cx="4389120" cy="914400"/>
          </a:xfrm>
          <a:prstGeom prst="rect">
            <a:avLst/>
          </a:prstGeom>
          <a:noFill/>
        </p:spPr>
        <p:txBody>
          <a:bodyPr wrap="square" anchor="t" lIns="0" rIns="0" tIns="0" bIns="0">
            <a:spAutoFit/>
          </a:bodyPr>
          <a:lstStyle/>
          <a:p>
            <a:pPr algn="l">
              <a:spcAft>
                <a:spcPts val="300"/>
              </a:spcAft>
            </a:pPr>
            <a:r>
              <a:rPr sz="2300" b="1">
                <a:solidFill>
                  <a:srgbClr val="003E54"/>
                </a:solidFill>
                <a:latin typeface="Inter"/>
              </a:rPr>
              <a:t>Tài liệu chuyến bay</a:t>
            </a:r>
          </a:p>
        </p:txBody>
      </p:sp>
      <p:sp>
        <p:nvSpPr>
          <p:cNvPr id="14" name="TextBox 13"/>
          <p:cNvSpPr txBox="1"/>
          <p:nvPr/>
        </p:nvSpPr>
        <p:spPr>
          <a:xfrm>
            <a:off x="7040880" y="5715000"/>
            <a:ext cx="4389120" cy="1280160"/>
          </a:xfrm>
          <a:prstGeom prst="rect">
            <a:avLst/>
          </a:prstGeom>
          <a:noFill/>
        </p:spPr>
        <p:txBody>
          <a:bodyPr wrap="square" anchor="t" lIns="0" rIns="0" tIns="0" bIns="0">
            <a:spAutoFit/>
          </a:bodyPr>
          <a:lstStyle/>
          <a:p>
            <a:pPr algn="l">
              <a:lnSpc>
                <a:spcPct val="105000"/>
              </a:lnSpc>
              <a:spcAft>
                <a:spcPts val="300"/>
              </a:spcAft>
            </a:pPr>
            <a:r>
              <a:rPr sz="1800" b="0">
                <a:solidFill>
                  <a:srgbClr val="667085"/>
                </a:solidFill>
                <a:latin typeface="Inter"/>
              </a:rPr>
              <a:t>Số hóa cả bộ hồ sơ, đồng bộ trạng thái với MO+.</a:t>
            </a:r>
          </a:p>
        </p:txBody>
      </p:sp>
      <p:sp>
        <p:nvSpPr>
          <p:cNvPr id="15" name="Rounded Rectangle 14"/>
          <p:cNvSpPr/>
          <p:nvPr/>
        </p:nvSpPr>
        <p:spPr>
          <a:xfrm>
            <a:off x="12344400" y="3383280"/>
            <a:ext cx="5212080" cy="384048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6" name="Oval 15"/>
          <p:cNvSpPr/>
          <p:nvPr/>
        </p:nvSpPr>
        <p:spPr>
          <a:xfrm>
            <a:off x="12710160" y="3794760"/>
            <a:ext cx="914400" cy="914400"/>
          </a:xfrm>
          <a:prstGeom prst="ellipse">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3000" b="1">
                <a:solidFill>
                  <a:srgbClr val="FAD14F"/>
                </a:solidFill>
                <a:latin typeface="Inter"/>
              </a:rPr>
              <a:t>3</a:t>
            </a:r>
          </a:p>
        </p:txBody>
      </p:sp>
      <p:sp>
        <p:nvSpPr>
          <p:cNvPr id="17" name="TextBox 16"/>
          <p:cNvSpPr txBox="1"/>
          <p:nvPr/>
        </p:nvSpPr>
        <p:spPr>
          <a:xfrm>
            <a:off x="12755880" y="4937760"/>
            <a:ext cx="4389120" cy="914400"/>
          </a:xfrm>
          <a:prstGeom prst="rect">
            <a:avLst/>
          </a:prstGeom>
          <a:noFill/>
        </p:spPr>
        <p:txBody>
          <a:bodyPr wrap="square" anchor="t" lIns="0" rIns="0" tIns="0" bIns="0">
            <a:spAutoFit/>
          </a:bodyPr>
          <a:lstStyle/>
          <a:p>
            <a:pPr algn="l">
              <a:spcAft>
                <a:spcPts val="300"/>
              </a:spcAft>
            </a:pPr>
            <a:r>
              <a:rPr sz="2300" b="1">
                <a:solidFill>
                  <a:srgbClr val="003E54"/>
                </a:solidFill>
                <a:latin typeface="Inter"/>
              </a:rPr>
              <a:t>Báo cáo &amp; tối ưu</a:t>
            </a:r>
          </a:p>
        </p:txBody>
      </p:sp>
      <p:sp>
        <p:nvSpPr>
          <p:cNvPr id="18" name="TextBox 17"/>
          <p:cNvSpPr txBox="1"/>
          <p:nvPr/>
        </p:nvSpPr>
        <p:spPr>
          <a:xfrm>
            <a:off x="12755880" y="5715000"/>
            <a:ext cx="4389120" cy="1280160"/>
          </a:xfrm>
          <a:prstGeom prst="rect">
            <a:avLst/>
          </a:prstGeom>
          <a:noFill/>
        </p:spPr>
        <p:txBody>
          <a:bodyPr wrap="square" anchor="t" lIns="0" rIns="0" tIns="0" bIns="0">
            <a:spAutoFit/>
          </a:bodyPr>
          <a:lstStyle/>
          <a:p>
            <a:pPr algn="l">
              <a:lnSpc>
                <a:spcPct val="105000"/>
              </a:lnSpc>
              <a:spcAft>
                <a:spcPts val="300"/>
              </a:spcAft>
            </a:pPr>
            <a:r>
              <a:rPr sz="1800" b="0">
                <a:solidFill>
                  <a:srgbClr val="667085"/>
                </a:solidFill>
                <a:latin typeface="Inter"/>
              </a:rPr>
              <a:t>Một nguồn số liệu, có khuyến nghị mang dầu (Tankering).</a:t>
            </a:r>
          </a:p>
        </p:txBody>
      </p:sp>
      <p:sp>
        <p:nvSpPr>
          <p:cNvPr id="19" name="TextBox 18"/>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0" name="TextBox 19"/>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01 · TỔNG QUAN</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Ai dùng &amp; nền tảng</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16459200" cy="45720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NGƯỜI DÙNG</a:t>
            </a:r>
          </a:p>
        </p:txBody>
      </p:sp>
      <p:sp>
        <p:nvSpPr>
          <p:cNvPr id="7" name="Rounded Rectangle 6"/>
          <p:cNvSpPr/>
          <p:nvPr/>
        </p:nvSpPr>
        <p:spPr>
          <a:xfrm>
            <a:off x="914400" y="2788920"/>
            <a:ext cx="3200400" cy="91440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344054"/>
                </a:solidFill>
                <a:latin typeface="Inter"/>
              </a:rPr>
              <a:t>Trực ban</a:t>
            </a:r>
          </a:p>
        </p:txBody>
      </p:sp>
      <p:sp>
        <p:nvSpPr>
          <p:cNvPr id="8" name="Rounded Rectangle 7"/>
          <p:cNvSpPr/>
          <p:nvPr/>
        </p:nvSpPr>
        <p:spPr>
          <a:xfrm>
            <a:off x="4343400" y="2788920"/>
            <a:ext cx="3200400" cy="91440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344054"/>
                </a:solidFill>
                <a:latin typeface="Inter"/>
              </a:rPr>
              <a:t>Điều phái</a:t>
            </a:r>
          </a:p>
        </p:txBody>
      </p:sp>
      <p:sp>
        <p:nvSpPr>
          <p:cNvPr id="9" name="Rounded Rectangle 8"/>
          <p:cNvSpPr/>
          <p:nvPr/>
        </p:nvSpPr>
        <p:spPr>
          <a:xfrm>
            <a:off x="7772400" y="2788920"/>
            <a:ext cx="3200400" cy="91440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344054"/>
                </a:solidFill>
                <a:latin typeface="Inter"/>
              </a:rPr>
              <a:t>CLC hàng hóa &amp; hành khách</a:t>
            </a:r>
          </a:p>
        </p:txBody>
      </p:sp>
      <p:sp>
        <p:nvSpPr>
          <p:cNvPr id="10" name="Rounded Rectangle 9"/>
          <p:cNvSpPr/>
          <p:nvPr/>
        </p:nvSpPr>
        <p:spPr>
          <a:xfrm>
            <a:off x="11201400" y="2788920"/>
            <a:ext cx="3200400" cy="91440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344054"/>
                </a:solidFill>
                <a:latin typeface="Inter"/>
              </a:rPr>
              <a:t>Đại diện sân bay</a:t>
            </a:r>
          </a:p>
        </p:txBody>
      </p:sp>
      <p:sp>
        <p:nvSpPr>
          <p:cNvPr id="11" name="Rounded Rectangle 10"/>
          <p:cNvSpPr/>
          <p:nvPr/>
        </p:nvSpPr>
        <p:spPr>
          <a:xfrm>
            <a:off x="14630400" y="2788920"/>
            <a:ext cx="3200400" cy="91440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344054"/>
                </a:solidFill>
                <a:latin typeface="Inter"/>
              </a:rPr>
              <a:t>Quản trị hệ thống</a:t>
            </a:r>
          </a:p>
        </p:txBody>
      </p:sp>
      <p:sp>
        <p:nvSpPr>
          <p:cNvPr id="12" name="TextBox 11"/>
          <p:cNvSpPr txBox="1"/>
          <p:nvPr/>
        </p:nvSpPr>
        <p:spPr>
          <a:xfrm>
            <a:off x="914400" y="4114800"/>
            <a:ext cx="16459200" cy="45720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DỰNG TRÊN 5 NỀN TẢNG</a:t>
            </a:r>
          </a:p>
        </p:txBody>
      </p:sp>
      <p:sp>
        <p:nvSpPr>
          <p:cNvPr id="13" name="Rounded Rectangle 12"/>
          <p:cNvSpPr/>
          <p:nvPr/>
        </p:nvSpPr>
        <p:spPr>
          <a:xfrm>
            <a:off x="914400" y="4617720"/>
            <a:ext cx="3200400" cy="100584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003E54"/>
                </a:solidFill>
                <a:latin typeface="Inter"/>
              </a:rPr>
              <a:t>Quản lý người dùng tập trung</a:t>
            </a:r>
          </a:p>
        </p:txBody>
      </p:sp>
      <p:sp>
        <p:nvSpPr>
          <p:cNvPr id="14" name="Rounded Rectangle 13"/>
          <p:cNvSpPr/>
          <p:nvPr/>
        </p:nvSpPr>
        <p:spPr>
          <a:xfrm>
            <a:off x="4343400" y="4617720"/>
            <a:ext cx="3200400" cy="100584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003E54"/>
                </a:solidFill>
                <a:latin typeface="Inter"/>
              </a:rPr>
              <a:t>Dữ liệu chủ (Master Data)</a:t>
            </a:r>
          </a:p>
        </p:txBody>
      </p:sp>
      <p:sp>
        <p:nvSpPr>
          <p:cNvPr id="15" name="Rounded Rectangle 14"/>
          <p:cNvSpPr/>
          <p:nvPr/>
        </p:nvSpPr>
        <p:spPr>
          <a:xfrm>
            <a:off x="7772400" y="4617720"/>
            <a:ext cx="3200400" cy="100584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003E54"/>
                </a:solidFill>
                <a:latin typeface="Inter"/>
              </a:rPr>
              <a:t>Cổng API</a:t>
            </a:r>
          </a:p>
        </p:txBody>
      </p:sp>
      <p:sp>
        <p:nvSpPr>
          <p:cNvPr id="16" name="Rounded Rectangle 15"/>
          <p:cNvSpPr/>
          <p:nvPr/>
        </p:nvSpPr>
        <p:spPr>
          <a:xfrm>
            <a:off x="11201400" y="4617720"/>
            <a:ext cx="3200400" cy="100584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003E54"/>
                </a:solidFill>
                <a:latin typeface="Inter"/>
              </a:rPr>
              <a:t>Nền tảng dữ liệu lớn</a:t>
            </a:r>
          </a:p>
        </p:txBody>
      </p:sp>
      <p:sp>
        <p:nvSpPr>
          <p:cNvPr id="17" name="Rounded Rectangle 16"/>
          <p:cNvSpPr/>
          <p:nvPr/>
        </p:nvSpPr>
        <p:spPr>
          <a:xfrm>
            <a:off x="14630400" y="4617720"/>
            <a:ext cx="3200400" cy="100584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300"/>
              </a:spcAft>
            </a:pPr>
            <a:r>
              <a:rPr sz="1600" b="1">
                <a:solidFill>
                  <a:srgbClr val="003E54"/>
                </a:solidFill>
                <a:latin typeface="Inter"/>
              </a:rPr>
              <a:t>Giám sát 24/7</a:t>
            </a:r>
          </a:p>
        </p:txBody>
      </p:sp>
      <p:sp>
        <p:nvSpPr>
          <p:cNvPr id="18" name="Rounded Rectangle 17"/>
          <p:cNvSpPr/>
          <p:nvPr/>
        </p:nvSpPr>
        <p:spPr>
          <a:xfrm>
            <a:off x="914400" y="6309360"/>
            <a:ext cx="16459200" cy="1280160"/>
          </a:xfrm>
          <a:prstGeom prst="roundRect">
            <a:avLst>
              <a:gd name="adj" fmla="val 6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100" b="1">
                <a:solidFill>
                  <a:srgbClr val="FFFFFF"/>
                </a:solidFill>
                <a:latin typeface="Inter"/>
              </a:rPr>
              <a:t>Tuân thủ NĐ 53/2022 &amp; NĐ 13/2023   ·   Mã nguồn và dữ liệu thuộc VNA   ·   SLA ≥ 99%</a:t>
            </a:r>
          </a:p>
        </p:txBody>
      </p:sp>
      <p:sp>
        <p:nvSpPr>
          <p:cNvPr id="19" name="TextBox 18"/>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0" name="TextBox 19"/>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834640"/>
            <a:ext cx="1280160" cy="146304"/>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108960"/>
            <a:ext cx="14630400" cy="1828800"/>
          </a:xfrm>
          <a:prstGeom prst="rect">
            <a:avLst/>
          </a:prstGeom>
          <a:noFill/>
        </p:spPr>
        <p:txBody>
          <a:bodyPr wrap="square" anchor="t" lIns="0" rIns="0" tIns="0" bIns="0">
            <a:spAutoFit/>
          </a:bodyPr>
          <a:lstStyle/>
          <a:p>
            <a:pPr algn="l">
              <a:spcAft>
                <a:spcPts val="300"/>
              </a:spcAft>
            </a:pPr>
            <a:r>
              <a:rPr sz="13000" b="1">
                <a:solidFill>
                  <a:srgbClr val="0090B3"/>
                </a:solidFill>
                <a:latin typeface="Inter"/>
              </a:rPr>
              <a:t>02</a:t>
            </a:r>
          </a:p>
        </p:txBody>
      </p:sp>
      <p:sp>
        <p:nvSpPr>
          <p:cNvPr id="5" name="TextBox 4"/>
          <p:cNvSpPr txBox="1"/>
          <p:nvPr/>
        </p:nvSpPr>
        <p:spPr>
          <a:xfrm>
            <a:off x="1417320" y="5486400"/>
            <a:ext cx="15544800" cy="1097280"/>
          </a:xfrm>
          <a:prstGeom prst="rect">
            <a:avLst/>
          </a:prstGeom>
          <a:noFill/>
        </p:spPr>
        <p:txBody>
          <a:bodyPr wrap="square" anchor="t" lIns="0" rIns="0" tIns="0" bIns="0">
            <a:spAutoFit/>
          </a:bodyPr>
          <a:lstStyle/>
          <a:p>
            <a:pPr algn="l">
              <a:spcAft>
                <a:spcPts val="300"/>
              </a:spcAft>
            </a:pPr>
            <a:r>
              <a:rPr sz="5000" b="1">
                <a:solidFill>
                  <a:srgbClr val="FFFFFF"/>
                </a:solidFill>
                <a:latin typeface="Inter"/>
              </a:rPr>
              <a:t>Các module nghiệp vụ</a:t>
            </a:r>
          </a:p>
        </p:txBody>
      </p:sp>
      <p:sp>
        <p:nvSpPr>
          <p:cNvPr id="6" name="TextBox 5"/>
          <p:cNvSpPr txBox="1"/>
          <p:nvPr/>
        </p:nvSpPr>
        <p:spPr>
          <a:xfrm>
            <a:off x="1417320" y="6492240"/>
            <a:ext cx="15544800" cy="731520"/>
          </a:xfrm>
          <a:prstGeom prst="rect">
            <a:avLst/>
          </a:prstGeom>
          <a:noFill/>
        </p:spPr>
        <p:txBody>
          <a:bodyPr wrap="square" anchor="t" lIns="0" rIns="0" tIns="0" bIns="0">
            <a:spAutoFit/>
          </a:bodyPr>
          <a:lstStyle/>
          <a:p>
            <a:pPr algn="l">
              <a:spcAft>
                <a:spcPts val="300"/>
              </a:spcAft>
            </a:pPr>
            <a:r>
              <a:rPr sz="2400" b="0">
                <a:solidFill>
                  <a:srgbClr val="9FC6D4"/>
                </a:solidFill>
                <a:latin typeface="Inter"/>
              </a:rPr>
              <a:t>Business modules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02 · NGHIỆP VỤ</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Năm phân hệ nghiệp vụ</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926080"/>
            <a:ext cx="3200400" cy="4206240"/>
          </a:xfrm>
          <a:prstGeom prst="roundRect">
            <a:avLst>
              <a:gd name="adj" fmla="val 6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7" name="TextBox 6"/>
          <p:cNvSpPr txBox="1"/>
          <p:nvPr/>
        </p:nvSpPr>
        <p:spPr>
          <a:xfrm>
            <a:off x="1188720" y="3383280"/>
            <a:ext cx="2651760" cy="914400"/>
          </a:xfrm>
          <a:prstGeom prst="rect">
            <a:avLst/>
          </a:prstGeom>
          <a:noFill/>
        </p:spPr>
        <p:txBody>
          <a:bodyPr wrap="square" anchor="t" lIns="0" rIns="0" tIns="0" bIns="0">
            <a:spAutoFit/>
          </a:bodyPr>
          <a:lstStyle/>
          <a:p>
            <a:pPr algn="l">
              <a:spcAft>
                <a:spcPts val="300"/>
              </a:spcAft>
            </a:pPr>
            <a:r>
              <a:rPr sz="4000" b="1">
                <a:solidFill>
                  <a:srgbClr val="FAD14F"/>
                </a:solidFill>
                <a:latin typeface="Inter"/>
              </a:rPr>
              <a:t>01</a:t>
            </a:r>
          </a:p>
        </p:txBody>
      </p:sp>
      <p:sp>
        <p:nvSpPr>
          <p:cNvPr id="8" name="TextBox 7"/>
          <p:cNvSpPr txBox="1"/>
          <p:nvPr/>
        </p:nvSpPr>
        <p:spPr>
          <a:xfrm>
            <a:off x="1188720" y="4572000"/>
            <a:ext cx="2651760" cy="1645920"/>
          </a:xfrm>
          <a:prstGeom prst="rect">
            <a:avLst/>
          </a:prstGeom>
          <a:noFill/>
        </p:spPr>
        <p:txBody>
          <a:bodyPr wrap="square" anchor="t" lIns="0" rIns="0" tIns="0" bIns="0">
            <a:spAutoFit/>
          </a:bodyPr>
          <a:lstStyle/>
          <a:p>
            <a:pPr algn="l">
              <a:lnSpc>
                <a:spcPct val="105000"/>
              </a:lnSpc>
              <a:spcAft>
                <a:spcPts val="300"/>
              </a:spcAft>
            </a:pPr>
            <a:r>
              <a:rPr sz="2100" b="1">
                <a:solidFill>
                  <a:srgbClr val="FFFFFF"/>
                </a:solidFill>
                <a:latin typeface="Inter"/>
              </a:rPr>
              <a:t>Điều hành chuyến bay</a:t>
            </a:r>
          </a:p>
        </p:txBody>
      </p:sp>
      <p:sp>
        <p:nvSpPr>
          <p:cNvPr id="9" name="TextBox 8"/>
          <p:cNvSpPr txBox="1"/>
          <p:nvPr/>
        </p:nvSpPr>
        <p:spPr>
          <a:xfrm>
            <a:off x="1188720" y="6217920"/>
            <a:ext cx="2651760" cy="640080"/>
          </a:xfrm>
          <a:prstGeom prst="rect">
            <a:avLst/>
          </a:prstGeom>
          <a:noFill/>
        </p:spPr>
        <p:txBody>
          <a:bodyPr wrap="square" anchor="t" lIns="0" rIns="0" tIns="0" bIns="0">
            <a:spAutoFit/>
          </a:bodyPr>
          <a:lstStyle/>
          <a:p>
            <a:pPr algn="l">
              <a:spcAft>
                <a:spcPts val="300"/>
              </a:spcAft>
            </a:pPr>
            <a:r>
              <a:rPr sz="1500" b="0">
                <a:solidFill>
                  <a:srgbClr val="FAD14F"/>
                </a:solidFill>
                <a:latin typeface="Inter"/>
              </a:rPr>
              <a:t>phân hệ lõi</a:t>
            </a:r>
          </a:p>
        </p:txBody>
      </p:sp>
      <p:sp>
        <p:nvSpPr>
          <p:cNvPr id="10" name="Rounded Rectangle 9"/>
          <p:cNvSpPr/>
          <p:nvPr/>
        </p:nvSpPr>
        <p:spPr>
          <a:xfrm>
            <a:off x="4343400" y="2926080"/>
            <a:ext cx="320040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1" name="TextBox 10"/>
          <p:cNvSpPr txBox="1"/>
          <p:nvPr/>
        </p:nvSpPr>
        <p:spPr>
          <a:xfrm>
            <a:off x="4617720" y="3383280"/>
            <a:ext cx="2651760" cy="914400"/>
          </a:xfrm>
          <a:prstGeom prst="rect">
            <a:avLst/>
          </a:prstGeom>
          <a:noFill/>
        </p:spPr>
        <p:txBody>
          <a:bodyPr wrap="square" anchor="t" lIns="0" rIns="0" tIns="0" bIns="0">
            <a:spAutoFit/>
          </a:bodyPr>
          <a:lstStyle/>
          <a:p>
            <a:pPr algn="l">
              <a:spcAft>
                <a:spcPts val="300"/>
              </a:spcAft>
            </a:pPr>
            <a:r>
              <a:rPr sz="4000" b="1">
                <a:solidFill>
                  <a:srgbClr val="0090B3"/>
                </a:solidFill>
                <a:latin typeface="Inter"/>
              </a:rPr>
              <a:t>02</a:t>
            </a:r>
          </a:p>
        </p:txBody>
      </p:sp>
      <p:sp>
        <p:nvSpPr>
          <p:cNvPr id="12" name="TextBox 11"/>
          <p:cNvSpPr txBox="1"/>
          <p:nvPr/>
        </p:nvSpPr>
        <p:spPr>
          <a:xfrm>
            <a:off x="4617720" y="4572000"/>
            <a:ext cx="2651760" cy="1645920"/>
          </a:xfrm>
          <a:prstGeom prst="rect">
            <a:avLst/>
          </a:prstGeom>
          <a:noFill/>
        </p:spPr>
        <p:txBody>
          <a:bodyPr wrap="square" anchor="t" lIns="0" rIns="0" tIns="0" bIns="0">
            <a:spAutoFit/>
          </a:bodyPr>
          <a:lstStyle/>
          <a:p>
            <a:pPr algn="l">
              <a:lnSpc>
                <a:spcPct val="105000"/>
              </a:lnSpc>
              <a:spcAft>
                <a:spcPts val="300"/>
              </a:spcAft>
            </a:pPr>
            <a:r>
              <a:rPr sz="2100" b="1">
                <a:solidFill>
                  <a:srgbClr val="344054"/>
                </a:solidFill>
                <a:latin typeface="Inter"/>
              </a:rPr>
              <a:t>Tài liệu chuyến bay</a:t>
            </a:r>
          </a:p>
        </p:txBody>
      </p:sp>
      <p:sp>
        <p:nvSpPr>
          <p:cNvPr id="13" name="Rounded Rectangle 12"/>
          <p:cNvSpPr/>
          <p:nvPr/>
        </p:nvSpPr>
        <p:spPr>
          <a:xfrm>
            <a:off x="7772400" y="2926080"/>
            <a:ext cx="320040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4" name="TextBox 13"/>
          <p:cNvSpPr txBox="1"/>
          <p:nvPr/>
        </p:nvSpPr>
        <p:spPr>
          <a:xfrm>
            <a:off x="8046720" y="3383280"/>
            <a:ext cx="2651760" cy="914400"/>
          </a:xfrm>
          <a:prstGeom prst="rect">
            <a:avLst/>
          </a:prstGeom>
          <a:noFill/>
        </p:spPr>
        <p:txBody>
          <a:bodyPr wrap="square" anchor="t" lIns="0" rIns="0" tIns="0" bIns="0">
            <a:spAutoFit/>
          </a:bodyPr>
          <a:lstStyle/>
          <a:p>
            <a:pPr algn="l">
              <a:spcAft>
                <a:spcPts val="300"/>
              </a:spcAft>
            </a:pPr>
            <a:r>
              <a:rPr sz="4000" b="1">
                <a:solidFill>
                  <a:srgbClr val="0090B3"/>
                </a:solidFill>
                <a:latin typeface="Inter"/>
              </a:rPr>
              <a:t>03</a:t>
            </a:r>
          </a:p>
        </p:txBody>
      </p:sp>
      <p:sp>
        <p:nvSpPr>
          <p:cNvPr id="15" name="TextBox 14"/>
          <p:cNvSpPr txBox="1"/>
          <p:nvPr/>
        </p:nvSpPr>
        <p:spPr>
          <a:xfrm>
            <a:off x="8046720" y="4572000"/>
            <a:ext cx="2651760" cy="1645920"/>
          </a:xfrm>
          <a:prstGeom prst="rect">
            <a:avLst/>
          </a:prstGeom>
          <a:noFill/>
        </p:spPr>
        <p:txBody>
          <a:bodyPr wrap="square" anchor="t" lIns="0" rIns="0" tIns="0" bIns="0">
            <a:spAutoFit/>
          </a:bodyPr>
          <a:lstStyle/>
          <a:p>
            <a:pPr algn="l">
              <a:lnSpc>
                <a:spcPct val="105000"/>
              </a:lnSpc>
              <a:spcAft>
                <a:spcPts val="300"/>
              </a:spcAft>
            </a:pPr>
            <a:r>
              <a:rPr sz="2100" b="1">
                <a:solidFill>
                  <a:srgbClr val="344054"/>
                </a:solidFill>
                <a:latin typeface="Inter"/>
              </a:rPr>
              <a:t>Báo cáo &amp; tối ưu</a:t>
            </a:r>
          </a:p>
        </p:txBody>
      </p:sp>
      <p:sp>
        <p:nvSpPr>
          <p:cNvPr id="16" name="Rounded Rectangle 15"/>
          <p:cNvSpPr/>
          <p:nvPr/>
        </p:nvSpPr>
        <p:spPr>
          <a:xfrm>
            <a:off x="11201400" y="2926080"/>
            <a:ext cx="320040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7" name="TextBox 16"/>
          <p:cNvSpPr txBox="1"/>
          <p:nvPr/>
        </p:nvSpPr>
        <p:spPr>
          <a:xfrm>
            <a:off x="11475720" y="3383280"/>
            <a:ext cx="2651760" cy="914400"/>
          </a:xfrm>
          <a:prstGeom prst="rect">
            <a:avLst/>
          </a:prstGeom>
          <a:noFill/>
        </p:spPr>
        <p:txBody>
          <a:bodyPr wrap="square" anchor="t" lIns="0" rIns="0" tIns="0" bIns="0">
            <a:spAutoFit/>
          </a:bodyPr>
          <a:lstStyle/>
          <a:p>
            <a:pPr algn="l">
              <a:spcAft>
                <a:spcPts val="300"/>
              </a:spcAft>
            </a:pPr>
            <a:r>
              <a:rPr sz="4000" b="1">
                <a:solidFill>
                  <a:srgbClr val="0090B3"/>
                </a:solidFill>
                <a:latin typeface="Inter"/>
              </a:rPr>
              <a:t>04</a:t>
            </a:r>
          </a:p>
        </p:txBody>
      </p:sp>
      <p:sp>
        <p:nvSpPr>
          <p:cNvPr id="18" name="TextBox 17"/>
          <p:cNvSpPr txBox="1"/>
          <p:nvPr/>
        </p:nvSpPr>
        <p:spPr>
          <a:xfrm>
            <a:off x="11475720" y="4572000"/>
            <a:ext cx="2651760" cy="1645920"/>
          </a:xfrm>
          <a:prstGeom prst="rect">
            <a:avLst/>
          </a:prstGeom>
          <a:noFill/>
        </p:spPr>
        <p:txBody>
          <a:bodyPr wrap="square" anchor="t" lIns="0" rIns="0" tIns="0" bIns="0">
            <a:spAutoFit/>
          </a:bodyPr>
          <a:lstStyle/>
          <a:p>
            <a:pPr algn="l">
              <a:lnSpc>
                <a:spcPct val="105000"/>
              </a:lnSpc>
              <a:spcAft>
                <a:spcPts val="300"/>
              </a:spcAft>
            </a:pPr>
            <a:r>
              <a:rPr sz="2100" b="1">
                <a:solidFill>
                  <a:srgbClr val="344054"/>
                </a:solidFill>
                <a:latin typeface="Inter"/>
              </a:rPr>
              <a:t>Quản lý danh mục</a:t>
            </a:r>
          </a:p>
        </p:txBody>
      </p:sp>
      <p:sp>
        <p:nvSpPr>
          <p:cNvPr id="19" name="TextBox 18"/>
          <p:cNvSpPr txBox="1"/>
          <p:nvPr/>
        </p:nvSpPr>
        <p:spPr>
          <a:xfrm>
            <a:off x="11475720" y="6217920"/>
            <a:ext cx="2651760" cy="640080"/>
          </a:xfrm>
          <a:prstGeom prst="rect">
            <a:avLst/>
          </a:prstGeom>
          <a:noFill/>
        </p:spPr>
        <p:txBody>
          <a:bodyPr wrap="square" anchor="t" lIns="0" rIns="0" tIns="0" bIns="0">
            <a:spAutoFit/>
          </a:bodyPr>
          <a:lstStyle/>
          <a:p>
            <a:pPr algn="l">
              <a:spcAft>
                <a:spcPts val="300"/>
              </a:spcAft>
            </a:pPr>
            <a:r>
              <a:rPr sz="1500" b="0">
                <a:solidFill>
                  <a:srgbClr val="667085"/>
                </a:solidFill>
                <a:latin typeface="Inter"/>
              </a:rPr>
              <a:t>nguồn dữ liệu chuẩn</a:t>
            </a:r>
          </a:p>
        </p:txBody>
      </p:sp>
      <p:sp>
        <p:nvSpPr>
          <p:cNvPr id="20" name="Rounded Rectangle 19"/>
          <p:cNvSpPr/>
          <p:nvPr/>
        </p:nvSpPr>
        <p:spPr>
          <a:xfrm>
            <a:off x="14630400" y="2926080"/>
            <a:ext cx="320040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21" name="TextBox 20"/>
          <p:cNvSpPr txBox="1"/>
          <p:nvPr/>
        </p:nvSpPr>
        <p:spPr>
          <a:xfrm>
            <a:off x="14904720" y="3383280"/>
            <a:ext cx="2651760" cy="914400"/>
          </a:xfrm>
          <a:prstGeom prst="rect">
            <a:avLst/>
          </a:prstGeom>
          <a:noFill/>
        </p:spPr>
        <p:txBody>
          <a:bodyPr wrap="square" anchor="t" lIns="0" rIns="0" tIns="0" bIns="0">
            <a:spAutoFit/>
          </a:bodyPr>
          <a:lstStyle/>
          <a:p>
            <a:pPr algn="l">
              <a:spcAft>
                <a:spcPts val="300"/>
              </a:spcAft>
            </a:pPr>
            <a:r>
              <a:rPr sz="4000" b="1">
                <a:solidFill>
                  <a:srgbClr val="0090B3"/>
                </a:solidFill>
                <a:latin typeface="Inter"/>
              </a:rPr>
              <a:t>05</a:t>
            </a:r>
          </a:p>
        </p:txBody>
      </p:sp>
      <p:sp>
        <p:nvSpPr>
          <p:cNvPr id="22" name="TextBox 21"/>
          <p:cNvSpPr txBox="1"/>
          <p:nvPr/>
        </p:nvSpPr>
        <p:spPr>
          <a:xfrm>
            <a:off x="14904720" y="4572000"/>
            <a:ext cx="2651760" cy="1645920"/>
          </a:xfrm>
          <a:prstGeom prst="rect">
            <a:avLst/>
          </a:prstGeom>
          <a:noFill/>
        </p:spPr>
        <p:txBody>
          <a:bodyPr wrap="square" anchor="t" lIns="0" rIns="0" tIns="0" bIns="0">
            <a:spAutoFit/>
          </a:bodyPr>
          <a:lstStyle/>
          <a:p>
            <a:pPr algn="l">
              <a:lnSpc>
                <a:spcPct val="105000"/>
              </a:lnSpc>
              <a:spcAft>
                <a:spcPts val="300"/>
              </a:spcAft>
            </a:pPr>
            <a:r>
              <a:rPr sz="2100" b="1">
                <a:solidFill>
                  <a:srgbClr val="344054"/>
                </a:solidFill>
                <a:latin typeface="Inter"/>
              </a:rPr>
              <a:t>Quản trị hệ thống</a:t>
            </a:r>
          </a:p>
        </p:txBody>
      </p:sp>
      <p:sp>
        <p:nvSpPr>
          <p:cNvPr id="23" name="TextBox 22"/>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4" name="TextBox 23"/>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02 · PHÂN HỆ 1</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Điều hành chuyến bay</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77440"/>
            <a:ext cx="10058400" cy="5029200"/>
          </a:xfrm>
          <a:prstGeom prst="rect">
            <a:avLst/>
          </a:prstGeom>
          <a:noFill/>
        </p:spPr>
        <p:txBody>
          <a:bodyPr wrap="square" anchor="t" lIns="0" rIns="0" tIns="0" bIns="0">
            <a:spAutoFit/>
          </a:bodyPr>
          <a:lstStyle/>
          <a:p>
            <a:pPr algn="l">
              <a:lnSpc>
                <a:spcPct val="102000"/>
              </a:lnSpc>
              <a:spcAft>
                <a:spcPts val="1600"/>
              </a:spcAft>
            </a:pPr>
            <a:r>
              <a:rPr sz="2100" b="1">
                <a:solidFill>
                  <a:srgbClr val="0090B3"/>
                </a:solidFill>
                <a:latin typeface="Inter"/>
              </a:rPr>
              <a:t>•  </a:t>
            </a:r>
            <a:r>
              <a:rPr sz="2100" b="0">
                <a:solidFill>
                  <a:srgbClr val="344054"/>
                </a:solidFill>
                <a:latin typeface="Inter"/>
              </a:rPr>
              <a:t>Một màn hình, đủ thông tin: kế hoạch → dự kiến → thực tế</a:t>
            </a:r>
          </a:p>
          <a:p>
            <a:pPr algn="l">
              <a:lnSpc>
                <a:spcPct val="102000"/>
              </a:lnSpc>
              <a:spcAft>
                <a:spcPts val="1600"/>
              </a:spcAft>
            </a:pPr>
            <a:r>
              <a:rPr sz="2100" b="1">
                <a:solidFill>
                  <a:srgbClr val="0090B3"/>
                </a:solidFill>
                <a:latin typeface="Inter"/>
              </a:rPr>
              <a:t>•  </a:t>
            </a:r>
            <a:r>
              <a:rPr sz="2100" b="0">
                <a:solidFill>
                  <a:srgbClr val="344054"/>
                </a:solidFill>
                <a:latin typeface="Inter"/>
              </a:rPr>
              <a:t>Cảnh báo bằng màu: hỏng hóc, VIP, chậm chuyến, thiếu phép bay…</a:t>
            </a:r>
          </a:p>
          <a:p>
            <a:pPr algn="l">
              <a:lnSpc>
                <a:spcPct val="102000"/>
              </a:lnSpc>
              <a:spcAft>
                <a:spcPts val="1600"/>
              </a:spcAft>
            </a:pPr>
            <a:r>
              <a:rPr sz="2100" b="1">
                <a:solidFill>
                  <a:srgbClr val="0090B3"/>
                </a:solidFill>
                <a:latin typeface="Inter"/>
              </a:rPr>
              <a:t>•  </a:t>
            </a:r>
            <a:r>
              <a:rPr sz="2100" b="0">
                <a:solidFill>
                  <a:srgbClr val="344054"/>
                </a:solidFill>
                <a:latin typeface="Inter"/>
              </a:rPr>
              <a:t>Tàu bay · tổ bay · tải trọng · nhiên liệu · sân bay theo từng chuyến</a:t>
            </a:r>
          </a:p>
          <a:p>
            <a:pPr algn="l">
              <a:lnSpc>
                <a:spcPct val="102000"/>
              </a:lnSpc>
              <a:spcAft>
                <a:spcPts val="1600"/>
              </a:spcAft>
            </a:pPr>
            <a:r>
              <a:rPr sz="2100" b="1">
                <a:solidFill>
                  <a:srgbClr val="0090B3"/>
                </a:solidFill>
                <a:latin typeface="Inter"/>
              </a:rPr>
              <a:t>•  </a:t>
            </a:r>
            <a:r>
              <a:rPr sz="2100" b="0">
                <a:solidFill>
                  <a:srgbClr val="344054"/>
                </a:solidFill>
                <a:latin typeface="Inter"/>
              </a:rPr>
              <a:t>Nhúng Flight Radar24, điều hành nhiều hãng cùng lúc</a:t>
            </a:r>
          </a:p>
        </p:txBody>
      </p:sp>
      <p:sp>
        <p:nvSpPr>
          <p:cNvPr id="7" name="Rounded Rectangle 6"/>
          <p:cNvSpPr/>
          <p:nvPr/>
        </p:nvSpPr>
        <p:spPr>
          <a:xfrm>
            <a:off x="11521440" y="2468880"/>
            <a:ext cx="5852160" cy="51206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8" name="Rounded Rectangle 7"/>
          <p:cNvSpPr/>
          <p:nvPr/>
        </p:nvSpPr>
        <p:spPr>
          <a:xfrm>
            <a:off x="11795760" y="2788920"/>
            <a:ext cx="5303520" cy="640080"/>
          </a:xfrm>
          <a:prstGeom prst="round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978640" y="2788920"/>
            <a:ext cx="4937760" cy="640080"/>
          </a:xfrm>
          <a:prstGeom prst="rect">
            <a:avLst/>
          </a:prstGeom>
          <a:noFill/>
        </p:spPr>
        <p:txBody>
          <a:bodyPr wrap="square" anchor="ctr" lIns="0" rIns="0" tIns="0" bIns="0">
            <a:spAutoFit/>
          </a:bodyPr>
          <a:lstStyle/>
          <a:p>
            <a:pPr algn="l">
              <a:spcAft>
                <a:spcPts val="300"/>
              </a:spcAft>
            </a:pPr>
            <a:r>
              <a:rPr sz="1600" b="1">
                <a:solidFill>
                  <a:srgbClr val="FFFFFF"/>
                </a:solidFill>
                <a:latin typeface="Inter"/>
              </a:rPr>
              <a:t>Danh sách chuyến bay</a:t>
            </a:r>
          </a:p>
        </p:txBody>
      </p:sp>
      <p:sp>
        <p:nvSpPr>
          <p:cNvPr id="10" name="Rectangle 9"/>
          <p:cNvSpPr/>
          <p:nvPr/>
        </p:nvSpPr>
        <p:spPr>
          <a:xfrm>
            <a:off x="11795760" y="3611880"/>
            <a:ext cx="5303520" cy="658368"/>
          </a:xfrm>
          <a:prstGeom prst="rect">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5760" y="3611880"/>
            <a:ext cx="128016" cy="65836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0" y="3611880"/>
            <a:ext cx="4937760" cy="658368"/>
          </a:xfrm>
          <a:prstGeom prst="rect">
            <a:avLst/>
          </a:prstGeom>
          <a:noFill/>
        </p:spPr>
        <p:txBody>
          <a:bodyPr wrap="square" anchor="ctr" lIns="0" rIns="0" tIns="0" bIns="0">
            <a:spAutoFit/>
          </a:bodyPr>
          <a:lstStyle/>
          <a:p>
            <a:pPr algn="l">
              <a:spcAft>
                <a:spcPts val="300"/>
              </a:spcAft>
            </a:pPr>
            <a:r>
              <a:rPr sz="1400" b="0">
                <a:solidFill>
                  <a:srgbClr val="344054"/>
                </a:solidFill>
                <a:latin typeface="Inter"/>
              </a:rPr>
              <a:t>VN201  HAN-SGN   delay</a:t>
            </a:r>
          </a:p>
        </p:txBody>
      </p:sp>
      <p:sp>
        <p:nvSpPr>
          <p:cNvPr id="13" name="Rectangle 12"/>
          <p:cNvSpPr/>
          <p:nvPr/>
        </p:nvSpPr>
        <p:spPr>
          <a:xfrm>
            <a:off x="11795760" y="4361688"/>
            <a:ext cx="5303520" cy="658368"/>
          </a:xfrm>
          <a:prstGeom prst="rect">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95760" y="4361688"/>
            <a:ext cx="128016" cy="658368"/>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80" y="4361688"/>
            <a:ext cx="4937760" cy="658368"/>
          </a:xfrm>
          <a:prstGeom prst="rect">
            <a:avLst/>
          </a:prstGeom>
          <a:noFill/>
        </p:spPr>
        <p:txBody>
          <a:bodyPr wrap="square" anchor="ctr" lIns="0" rIns="0" tIns="0" bIns="0">
            <a:spAutoFit/>
          </a:bodyPr>
          <a:lstStyle/>
          <a:p>
            <a:pPr algn="l">
              <a:spcAft>
                <a:spcPts val="300"/>
              </a:spcAft>
            </a:pPr>
            <a:r>
              <a:rPr sz="1400" b="0">
                <a:solidFill>
                  <a:srgbClr val="344054"/>
                </a:solidFill>
                <a:latin typeface="Inter"/>
              </a:rPr>
              <a:t>VN255  SGN-DAD   OK</a:t>
            </a:r>
          </a:p>
        </p:txBody>
      </p:sp>
      <p:sp>
        <p:nvSpPr>
          <p:cNvPr id="16" name="Rectangle 15"/>
          <p:cNvSpPr/>
          <p:nvPr/>
        </p:nvSpPr>
        <p:spPr>
          <a:xfrm>
            <a:off x="11795760" y="5111496"/>
            <a:ext cx="5303520" cy="658368"/>
          </a:xfrm>
          <a:prstGeom prst="rect">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95760" y="5111496"/>
            <a:ext cx="128016" cy="65836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0" y="5111496"/>
            <a:ext cx="4937760" cy="658368"/>
          </a:xfrm>
          <a:prstGeom prst="rect">
            <a:avLst/>
          </a:prstGeom>
          <a:noFill/>
        </p:spPr>
        <p:txBody>
          <a:bodyPr wrap="square" anchor="ctr" lIns="0" rIns="0" tIns="0" bIns="0">
            <a:spAutoFit/>
          </a:bodyPr>
          <a:lstStyle/>
          <a:p>
            <a:pPr algn="l">
              <a:spcAft>
                <a:spcPts val="300"/>
              </a:spcAft>
            </a:pPr>
            <a:r>
              <a:rPr sz="1400" b="0">
                <a:solidFill>
                  <a:srgbClr val="344054"/>
                </a:solidFill>
                <a:latin typeface="Inter"/>
              </a:rPr>
              <a:t>VN031  HAN-NRT   MEL</a:t>
            </a:r>
          </a:p>
        </p:txBody>
      </p:sp>
      <p:sp>
        <p:nvSpPr>
          <p:cNvPr id="19" name="Rectangle 18"/>
          <p:cNvSpPr/>
          <p:nvPr/>
        </p:nvSpPr>
        <p:spPr>
          <a:xfrm>
            <a:off x="11795760" y="5861304"/>
            <a:ext cx="5303520" cy="658368"/>
          </a:xfrm>
          <a:prstGeom prst="rect">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795760" y="5861304"/>
            <a:ext cx="128016" cy="65836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0" y="5861304"/>
            <a:ext cx="4937760" cy="658368"/>
          </a:xfrm>
          <a:prstGeom prst="rect">
            <a:avLst/>
          </a:prstGeom>
          <a:noFill/>
        </p:spPr>
        <p:txBody>
          <a:bodyPr wrap="square" anchor="ctr" lIns="0" rIns="0" tIns="0" bIns="0">
            <a:spAutoFit/>
          </a:bodyPr>
          <a:lstStyle/>
          <a:p>
            <a:pPr algn="l">
              <a:spcAft>
                <a:spcPts val="300"/>
              </a:spcAft>
            </a:pPr>
            <a:r>
              <a:rPr sz="1400" b="0">
                <a:solidFill>
                  <a:srgbClr val="344054"/>
                </a:solidFill>
                <a:latin typeface="Inter"/>
              </a:rPr>
              <a:t>VN611  SGN-BKK   VIP</a:t>
            </a:r>
          </a:p>
        </p:txBody>
      </p:sp>
      <p:sp>
        <p:nvSpPr>
          <p:cNvPr id="22" name="Rectangle 21"/>
          <p:cNvSpPr/>
          <p:nvPr/>
        </p:nvSpPr>
        <p:spPr>
          <a:xfrm>
            <a:off x="11795760" y="6611112"/>
            <a:ext cx="5303520" cy="658368"/>
          </a:xfrm>
          <a:prstGeom prst="rect">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95760" y="6611112"/>
            <a:ext cx="128016" cy="658368"/>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070080" y="6611112"/>
            <a:ext cx="4937760" cy="658368"/>
          </a:xfrm>
          <a:prstGeom prst="rect">
            <a:avLst/>
          </a:prstGeom>
          <a:noFill/>
        </p:spPr>
        <p:txBody>
          <a:bodyPr wrap="square" anchor="ctr" lIns="0" rIns="0" tIns="0" bIns="0">
            <a:spAutoFit/>
          </a:bodyPr>
          <a:lstStyle/>
          <a:p>
            <a:pPr algn="l">
              <a:spcAft>
                <a:spcPts val="300"/>
              </a:spcAft>
            </a:pPr>
            <a:r>
              <a:rPr sz="1400" b="0">
                <a:solidFill>
                  <a:srgbClr val="344054"/>
                </a:solidFill>
                <a:latin typeface="Inter"/>
              </a:rPr>
              <a:t>VN160  DAD-HAN   OK</a:t>
            </a:r>
          </a:p>
        </p:txBody>
      </p:sp>
      <p:sp>
        <p:nvSpPr>
          <p:cNvPr id="25" name="TextBox 24"/>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6" name="TextBox 25"/>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02 · PHÂN HỆ 2 &amp; 3</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Tài liệu &amp; báo cáo</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468880"/>
            <a:ext cx="7955279" cy="493776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7" name="Rounded Rectangle 6"/>
          <p:cNvSpPr/>
          <p:nvPr/>
        </p:nvSpPr>
        <p:spPr>
          <a:xfrm>
            <a:off x="914400" y="2468880"/>
            <a:ext cx="7955279" cy="822960"/>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468880"/>
            <a:ext cx="7315200" cy="822960"/>
          </a:xfrm>
          <a:prstGeom prst="rect">
            <a:avLst/>
          </a:prstGeom>
          <a:noFill/>
        </p:spPr>
        <p:txBody>
          <a:bodyPr wrap="square" anchor="ctr" lIns="0" rIns="0" tIns="0" bIns="0">
            <a:spAutoFit/>
          </a:bodyPr>
          <a:lstStyle/>
          <a:p>
            <a:pPr algn="l">
              <a:spcAft>
                <a:spcPts val="300"/>
              </a:spcAft>
            </a:pPr>
            <a:r>
              <a:rPr sz="2200" b="1">
                <a:solidFill>
                  <a:srgbClr val="FFFFFF"/>
                </a:solidFill>
                <a:latin typeface="Inter"/>
              </a:rPr>
              <a:t>Tài liệu chuyến bay</a:t>
            </a:r>
          </a:p>
        </p:txBody>
      </p:sp>
      <p:sp>
        <p:nvSpPr>
          <p:cNvPr id="9" name="TextBox 8"/>
          <p:cNvSpPr txBox="1"/>
          <p:nvPr/>
        </p:nvSpPr>
        <p:spPr>
          <a:xfrm>
            <a:off x="1280160" y="3566160"/>
            <a:ext cx="7315200" cy="3657600"/>
          </a:xfrm>
          <a:prstGeom prst="rect">
            <a:avLst/>
          </a:prstGeom>
          <a:noFill/>
        </p:spPr>
        <p:txBody>
          <a:bodyPr wrap="square" anchor="t" lIns="0" rIns="0" tIns="0" bIns="0">
            <a:spAutoFit/>
          </a:bodyPr>
          <a:lstStyle/>
          <a:p>
            <a:pPr algn="l">
              <a:lnSpc>
                <a:spcPct val="102000"/>
              </a:lnSpc>
              <a:spcAft>
                <a:spcPts val="1100"/>
              </a:spcAft>
            </a:pPr>
            <a:r>
              <a:rPr sz="1800" b="1">
                <a:solidFill>
                  <a:srgbClr val="0090B3"/>
                </a:solidFill>
                <a:latin typeface="Inter"/>
              </a:rPr>
              <a:t>•  </a:t>
            </a:r>
            <a:r>
              <a:rPr sz="1800" b="0">
                <a:solidFill>
                  <a:srgbClr val="344054"/>
                </a:solidFill>
                <a:latin typeface="Inter"/>
              </a:rPr>
              <a:t>Số hóa cả bộ hồ sơ, quản lý phiên bản</a:t>
            </a:r>
          </a:p>
          <a:p>
            <a:pPr algn="l">
              <a:lnSpc>
                <a:spcPct val="102000"/>
              </a:lnSpc>
              <a:spcAft>
                <a:spcPts val="1100"/>
              </a:spcAft>
            </a:pPr>
            <a:r>
              <a:rPr sz="1800" b="1">
                <a:solidFill>
                  <a:srgbClr val="0090B3"/>
                </a:solidFill>
                <a:latin typeface="Inter"/>
              </a:rPr>
              <a:t>•  </a:t>
            </a:r>
            <a:r>
              <a:rPr sz="1800" b="0">
                <a:solidFill>
                  <a:srgbClr val="344054"/>
                </a:solidFill>
                <a:latin typeface="Inter"/>
              </a:rPr>
              <a:t>Xác nhận điện tử, có Web Mobile cho tổ bay</a:t>
            </a:r>
          </a:p>
          <a:p>
            <a:pPr algn="l">
              <a:lnSpc>
                <a:spcPct val="102000"/>
              </a:lnSpc>
              <a:spcAft>
                <a:spcPts val="1100"/>
              </a:spcAft>
            </a:pPr>
            <a:r>
              <a:rPr sz="1800" b="1">
                <a:solidFill>
                  <a:srgbClr val="0090B3"/>
                </a:solidFill>
                <a:latin typeface="Inter"/>
              </a:rPr>
              <a:t>•  </a:t>
            </a:r>
            <a:r>
              <a:rPr sz="1800" b="0">
                <a:solidFill>
                  <a:srgbClr val="344054"/>
                </a:solidFill>
                <a:latin typeface="Inter"/>
              </a:rPr>
              <a:t>Đồng bộ trạng thái với MO+</a:t>
            </a:r>
          </a:p>
          <a:p>
            <a:pPr algn="l">
              <a:lnSpc>
                <a:spcPct val="102000"/>
              </a:lnSpc>
              <a:spcAft>
                <a:spcPts val="1100"/>
              </a:spcAft>
            </a:pPr>
            <a:r>
              <a:rPr sz="1800" b="1">
                <a:solidFill>
                  <a:srgbClr val="0090B3"/>
                </a:solidFill>
                <a:latin typeface="Inter"/>
              </a:rPr>
              <a:t>•  </a:t>
            </a:r>
            <a:r>
              <a:rPr sz="1800" b="0">
                <a:solidFill>
                  <a:srgbClr val="344054"/>
                </a:solidFill>
                <a:latin typeface="Inter"/>
              </a:rPr>
              <a:t>Luôn có kênh dự phòng khi tích hợp trục trặc</a:t>
            </a:r>
          </a:p>
        </p:txBody>
      </p:sp>
      <p:sp>
        <p:nvSpPr>
          <p:cNvPr id="10" name="Rounded Rectangle 9"/>
          <p:cNvSpPr/>
          <p:nvPr/>
        </p:nvSpPr>
        <p:spPr>
          <a:xfrm>
            <a:off x="9418320" y="2468880"/>
            <a:ext cx="7955279" cy="493776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1" name="Rounded Rectangle 10"/>
          <p:cNvSpPr/>
          <p:nvPr/>
        </p:nvSpPr>
        <p:spPr>
          <a:xfrm>
            <a:off x="9418320" y="2468880"/>
            <a:ext cx="7955279" cy="822960"/>
          </a:xfrm>
          <a:prstGeom prst="round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0" y="2468880"/>
            <a:ext cx="7315200" cy="822960"/>
          </a:xfrm>
          <a:prstGeom prst="rect">
            <a:avLst/>
          </a:prstGeom>
          <a:noFill/>
        </p:spPr>
        <p:txBody>
          <a:bodyPr wrap="square" anchor="ctr" lIns="0" rIns="0" tIns="0" bIns="0">
            <a:spAutoFit/>
          </a:bodyPr>
          <a:lstStyle/>
          <a:p>
            <a:pPr algn="l">
              <a:spcAft>
                <a:spcPts val="300"/>
              </a:spcAft>
            </a:pPr>
            <a:r>
              <a:rPr sz="2200" b="1">
                <a:solidFill>
                  <a:srgbClr val="FFFFFF"/>
                </a:solidFill>
                <a:latin typeface="Inter"/>
              </a:rPr>
              <a:t>Báo cáo &amp; đánh giá tối ưu</a:t>
            </a:r>
          </a:p>
        </p:txBody>
      </p:sp>
      <p:sp>
        <p:nvSpPr>
          <p:cNvPr id="13" name="TextBox 12"/>
          <p:cNvSpPr txBox="1"/>
          <p:nvPr/>
        </p:nvSpPr>
        <p:spPr>
          <a:xfrm>
            <a:off x="9784080" y="3566160"/>
            <a:ext cx="7315200" cy="3657600"/>
          </a:xfrm>
          <a:prstGeom prst="rect">
            <a:avLst/>
          </a:prstGeom>
          <a:noFill/>
        </p:spPr>
        <p:txBody>
          <a:bodyPr wrap="square" anchor="t" lIns="0" rIns="0" tIns="0" bIns="0">
            <a:spAutoFit/>
          </a:bodyPr>
          <a:lstStyle/>
          <a:p>
            <a:pPr algn="l">
              <a:lnSpc>
                <a:spcPct val="102000"/>
              </a:lnSpc>
              <a:spcAft>
                <a:spcPts val="1100"/>
              </a:spcAft>
            </a:pPr>
            <a:r>
              <a:rPr sz="1800" b="1">
                <a:solidFill>
                  <a:srgbClr val="0090B3"/>
                </a:solidFill>
                <a:latin typeface="Inter"/>
              </a:rPr>
              <a:t>•  </a:t>
            </a:r>
            <a:r>
              <a:rPr sz="1800" b="0">
                <a:solidFill>
                  <a:srgbClr val="344054"/>
                </a:solidFill>
                <a:latin typeface="Inter"/>
              </a:rPr>
              <a:t>Một nguồn số liệu, lọc linh hoạt</a:t>
            </a:r>
          </a:p>
          <a:p>
            <a:pPr algn="l">
              <a:lnSpc>
                <a:spcPct val="102000"/>
              </a:lnSpc>
              <a:spcAft>
                <a:spcPts val="1100"/>
              </a:spcAft>
            </a:pPr>
            <a:r>
              <a:rPr sz="1800" b="1">
                <a:solidFill>
                  <a:srgbClr val="0090B3"/>
                </a:solidFill>
                <a:latin typeface="Inter"/>
              </a:rPr>
              <a:t>•  </a:t>
            </a:r>
            <a:r>
              <a:rPr sz="1800" b="0">
                <a:solidFill>
                  <a:srgbClr val="344054"/>
                </a:solidFill>
                <a:latin typeface="Inter"/>
              </a:rPr>
              <a:t>Xuất PDF / Excel / Docx</a:t>
            </a:r>
          </a:p>
          <a:p>
            <a:pPr algn="l">
              <a:lnSpc>
                <a:spcPct val="102000"/>
              </a:lnSpc>
              <a:spcAft>
                <a:spcPts val="1100"/>
              </a:spcAft>
            </a:pPr>
            <a:r>
              <a:rPr sz="1800" b="1">
                <a:solidFill>
                  <a:srgbClr val="0090B3"/>
                </a:solidFill>
                <a:latin typeface="Inter"/>
              </a:rPr>
              <a:t>•  </a:t>
            </a:r>
            <a:r>
              <a:rPr sz="1800" b="0">
                <a:solidFill>
                  <a:srgbClr val="344054"/>
                </a:solidFill>
                <a:latin typeface="Inter"/>
              </a:rPr>
              <a:t>Mạnh nhất: nhiên liệu, đúng giờ (OTP)</a:t>
            </a:r>
          </a:p>
          <a:p>
            <a:pPr algn="l">
              <a:lnSpc>
                <a:spcPct val="102000"/>
              </a:lnSpc>
              <a:spcAft>
                <a:spcPts val="1100"/>
              </a:spcAft>
            </a:pPr>
            <a:r>
              <a:rPr sz="1800" b="1">
                <a:solidFill>
                  <a:srgbClr val="0090B3"/>
                </a:solidFill>
                <a:latin typeface="Inter"/>
              </a:rPr>
              <a:t>•  </a:t>
            </a:r>
            <a:r>
              <a:rPr sz="1800" b="0">
                <a:solidFill>
                  <a:srgbClr val="344054"/>
                </a:solidFill>
                <a:latin typeface="Inter"/>
              </a:rPr>
              <a:t>Đánh giá hiệu quả từng chuyến bay</a:t>
            </a:r>
          </a:p>
        </p:txBody>
      </p:sp>
      <p:sp>
        <p:nvSpPr>
          <p:cNvPr id="14" name="TextBox 13"/>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5" name="TextBox 14"/>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02 · PHÂN HỆ 4 &amp; 5</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Danh mục &amp; quản trị</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468880"/>
            <a:ext cx="7955279" cy="493776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7" name="TextBox 6"/>
          <p:cNvSpPr txBox="1"/>
          <p:nvPr/>
        </p:nvSpPr>
        <p:spPr>
          <a:xfrm>
            <a:off x="1280160" y="2743200"/>
            <a:ext cx="7315200" cy="640080"/>
          </a:xfrm>
          <a:prstGeom prst="rect">
            <a:avLst/>
          </a:prstGeom>
          <a:noFill/>
        </p:spPr>
        <p:txBody>
          <a:bodyPr wrap="square" anchor="t" lIns="0" rIns="0" tIns="0" bIns="0">
            <a:spAutoFit/>
          </a:bodyPr>
          <a:lstStyle/>
          <a:p>
            <a:pPr algn="l">
              <a:spcAft>
                <a:spcPts val="300"/>
              </a:spcAft>
            </a:pPr>
            <a:r>
              <a:rPr sz="2200" b="1">
                <a:solidFill>
                  <a:srgbClr val="003E54"/>
                </a:solidFill>
                <a:latin typeface="Inter"/>
              </a:rPr>
              <a:t>Quản lý danh mục</a:t>
            </a:r>
          </a:p>
        </p:txBody>
      </p:sp>
      <p:sp>
        <p:nvSpPr>
          <p:cNvPr id="8" name="TextBox 7"/>
          <p:cNvSpPr txBox="1"/>
          <p:nvPr/>
        </p:nvSpPr>
        <p:spPr>
          <a:xfrm>
            <a:off x="1280160" y="3474720"/>
            <a:ext cx="7315200" cy="3657600"/>
          </a:xfrm>
          <a:prstGeom prst="rect">
            <a:avLst/>
          </a:prstGeom>
          <a:noFill/>
        </p:spPr>
        <p:txBody>
          <a:bodyPr wrap="square" anchor="t" lIns="0" rIns="0" tIns="0" bIns="0">
            <a:spAutoFit/>
          </a:bodyPr>
          <a:lstStyle/>
          <a:p>
            <a:pPr algn="l">
              <a:lnSpc>
                <a:spcPct val="102000"/>
              </a:lnSpc>
              <a:spcAft>
                <a:spcPts val="1100"/>
              </a:spcAft>
            </a:pPr>
            <a:r>
              <a:rPr sz="1800" b="1">
                <a:solidFill>
                  <a:srgbClr val="0090B3"/>
                </a:solidFill>
                <a:latin typeface="Inter"/>
              </a:rPr>
              <a:t>•  </a:t>
            </a:r>
            <a:r>
              <a:rPr sz="1800" b="0">
                <a:solidFill>
                  <a:srgbClr val="344054"/>
                </a:solidFill>
                <a:latin typeface="Inter"/>
              </a:rPr>
              <a:t>Một nguồn sự thật duy nhất</a:t>
            </a:r>
          </a:p>
          <a:p>
            <a:pPr algn="l">
              <a:lnSpc>
                <a:spcPct val="102000"/>
              </a:lnSpc>
              <a:spcAft>
                <a:spcPts val="1100"/>
              </a:spcAft>
            </a:pPr>
            <a:r>
              <a:rPr sz="1800" b="1">
                <a:solidFill>
                  <a:srgbClr val="0090B3"/>
                </a:solidFill>
                <a:latin typeface="Inter"/>
              </a:rPr>
              <a:t>•  </a:t>
            </a:r>
            <a:r>
              <a:rPr sz="1800" b="0">
                <a:solidFill>
                  <a:srgbClr val="344054"/>
                </a:solidFill>
                <a:latin typeface="Inter"/>
              </a:rPr>
              <a:t>Có phiên bản &amp; lịch sử thay đổi</a:t>
            </a:r>
          </a:p>
          <a:p>
            <a:pPr algn="l">
              <a:lnSpc>
                <a:spcPct val="102000"/>
              </a:lnSpc>
              <a:spcAft>
                <a:spcPts val="1100"/>
              </a:spcAft>
            </a:pPr>
            <a:r>
              <a:rPr sz="1800" b="1">
                <a:solidFill>
                  <a:srgbClr val="0090B3"/>
                </a:solidFill>
                <a:latin typeface="Inter"/>
              </a:rPr>
              <a:t>•  </a:t>
            </a:r>
            <a:r>
              <a:rPr sz="1800" b="0">
                <a:solidFill>
                  <a:srgbClr val="344054"/>
                </a:solidFill>
                <a:latin typeface="Inter"/>
              </a:rPr>
              <a:t>Đồng bộ MEL/CDL, defect từ AMOS</a:t>
            </a:r>
          </a:p>
          <a:p>
            <a:pPr algn="l">
              <a:lnSpc>
                <a:spcPct val="102000"/>
              </a:lnSpc>
              <a:spcAft>
                <a:spcPts val="1100"/>
              </a:spcAft>
            </a:pPr>
            <a:r>
              <a:rPr sz="1800" b="1">
                <a:solidFill>
                  <a:srgbClr val="0090B3"/>
                </a:solidFill>
                <a:latin typeface="Inter"/>
              </a:rPr>
              <a:t>•  </a:t>
            </a:r>
            <a:r>
              <a:rPr sz="1800" b="0">
                <a:solidFill>
                  <a:srgbClr val="344054"/>
                </a:solidFill>
                <a:latin typeface="Inter"/>
              </a:rPr>
              <a:t>Quy tắc Tankering theo giá nhiên liệu</a:t>
            </a:r>
          </a:p>
        </p:txBody>
      </p:sp>
      <p:sp>
        <p:nvSpPr>
          <p:cNvPr id="9" name="Rounded Rectangle 8"/>
          <p:cNvSpPr/>
          <p:nvPr/>
        </p:nvSpPr>
        <p:spPr>
          <a:xfrm>
            <a:off x="9418320" y="2468880"/>
            <a:ext cx="7955279" cy="49377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0" name="TextBox 9"/>
          <p:cNvSpPr txBox="1"/>
          <p:nvPr/>
        </p:nvSpPr>
        <p:spPr>
          <a:xfrm>
            <a:off x="9784080" y="2743200"/>
            <a:ext cx="7315200" cy="640080"/>
          </a:xfrm>
          <a:prstGeom prst="rect">
            <a:avLst/>
          </a:prstGeom>
          <a:noFill/>
        </p:spPr>
        <p:txBody>
          <a:bodyPr wrap="square" anchor="t" lIns="0" rIns="0" tIns="0" bIns="0">
            <a:spAutoFit/>
          </a:bodyPr>
          <a:lstStyle/>
          <a:p>
            <a:pPr algn="l">
              <a:spcAft>
                <a:spcPts val="300"/>
              </a:spcAft>
            </a:pPr>
            <a:r>
              <a:rPr sz="2200" b="1">
                <a:solidFill>
                  <a:srgbClr val="003E54"/>
                </a:solidFill>
                <a:latin typeface="Inter"/>
              </a:rPr>
              <a:t>Quản trị hệ thống</a:t>
            </a:r>
          </a:p>
        </p:txBody>
      </p:sp>
      <p:sp>
        <p:nvSpPr>
          <p:cNvPr id="11" name="TextBox 10"/>
          <p:cNvSpPr txBox="1"/>
          <p:nvPr/>
        </p:nvSpPr>
        <p:spPr>
          <a:xfrm>
            <a:off x="9784080" y="3474720"/>
            <a:ext cx="7315200" cy="3657600"/>
          </a:xfrm>
          <a:prstGeom prst="rect">
            <a:avLst/>
          </a:prstGeom>
          <a:noFill/>
        </p:spPr>
        <p:txBody>
          <a:bodyPr wrap="square" anchor="t" lIns="0" rIns="0" tIns="0" bIns="0">
            <a:spAutoFit/>
          </a:bodyPr>
          <a:lstStyle/>
          <a:p>
            <a:pPr algn="l">
              <a:lnSpc>
                <a:spcPct val="102000"/>
              </a:lnSpc>
              <a:spcAft>
                <a:spcPts val="1100"/>
              </a:spcAft>
            </a:pPr>
            <a:r>
              <a:rPr sz="1800" b="1">
                <a:solidFill>
                  <a:srgbClr val="0090B3"/>
                </a:solidFill>
                <a:latin typeface="Inter"/>
              </a:rPr>
              <a:t>•  </a:t>
            </a:r>
            <a:r>
              <a:rPr sz="1800" b="0">
                <a:solidFill>
                  <a:srgbClr val="344054"/>
                </a:solidFill>
                <a:latin typeface="Inter"/>
              </a:rPr>
              <a:t>Phân quyền tới từng API</a:t>
            </a:r>
          </a:p>
          <a:p>
            <a:pPr algn="l">
              <a:lnSpc>
                <a:spcPct val="102000"/>
              </a:lnSpc>
              <a:spcAft>
                <a:spcPts val="1100"/>
              </a:spcAft>
            </a:pPr>
            <a:r>
              <a:rPr sz="1800" b="1">
                <a:solidFill>
                  <a:srgbClr val="0090B3"/>
                </a:solidFill>
                <a:latin typeface="Inter"/>
              </a:rPr>
              <a:t>•  </a:t>
            </a:r>
            <a:r>
              <a:rPr sz="1800" b="0">
                <a:solidFill>
                  <a:srgbClr val="344054"/>
                </a:solidFill>
                <a:latin typeface="Inter"/>
              </a:rPr>
              <a:t>Đổi quyền có hiệu lực ngay</a:t>
            </a:r>
          </a:p>
          <a:p>
            <a:pPr algn="l">
              <a:lnSpc>
                <a:spcPct val="102000"/>
              </a:lnSpc>
              <a:spcAft>
                <a:spcPts val="1100"/>
              </a:spcAft>
            </a:pPr>
            <a:r>
              <a:rPr sz="1800" b="1">
                <a:solidFill>
                  <a:srgbClr val="0090B3"/>
                </a:solidFill>
                <a:latin typeface="Inter"/>
              </a:rPr>
              <a:t>•  </a:t>
            </a:r>
            <a:r>
              <a:rPr sz="1800" b="0">
                <a:solidFill>
                  <a:srgbClr val="344054"/>
                </a:solidFill>
                <a:latin typeface="Inter"/>
              </a:rPr>
              <a:t>MFA, SSO, nối LDAP/AD</a:t>
            </a:r>
          </a:p>
          <a:p>
            <a:pPr algn="l">
              <a:lnSpc>
                <a:spcPct val="102000"/>
              </a:lnSpc>
              <a:spcAft>
                <a:spcPts val="1100"/>
              </a:spcAft>
            </a:pPr>
            <a:r>
              <a:rPr sz="1800" b="1">
                <a:solidFill>
                  <a:srgbClr val="0090B3"/>
                </a:solidFill>
                <a:latin typeface="Inter"/>
              </a:rPr>
              <a:t>•  </a:t>
            </a:r>
            <a:r>
              <a:rPr sz="1800" b="0">
                <a:solidFill>
                  <a:srgbClr val="344054"/>
                </a:solidFill>
                <a:latin typeface="Inter"/>
              </a:rPr>
              <a:t>Ghi vết toàn bộ thao tác (audit)</a:t>
            </a:r>
          </a:p>
        </p:txBody>
      </p:sp>
      <p:sp>
        <p:nvSpPr>
          <p:cNvPr id="12" name="TextBox 11"/>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3" name="TextBox 12"/>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834640"/>
            <a:ext cx="1280160" cy="146304"/>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108960"/>
            <a:ext cx="14630400" cy="1828800"/>
          </a:xfrm>
          <a:prstGeom prst="rect">
            <a:avLst/>
          </a:prstGeom>
          <a:noFill/>
        </p:spPr>
        <p:txBody>
          <a:bodyPr wrap="square" anchor="t" lIns="0" rIns="0" tIns="0" bIns="0">
            <a:spAutoFit/>
          </a:bodyPr>
          <a:lstStyle/>
          <a:p>
            <a:pPr algn="l">
              <a:spcAft>
                <a:spcPts val="300"/>
              </a:spcAft>
            </a:pPr>
            <a:r>
              <a:rPr sz="13000" b="1">
                <a:solidFill>
                  <a:srgbClr val="0090B3"/>
                </a:solidFill>
                <a:latin typeface="Inter"/>
              </a:rPr>
              <a:t>03</a:t>
            </a:r>
          </a:p>
        </p:txBody>
      </p:sp>
      <p:sp>
        <p:nvSpPr>
          <p:cNvPr id="5" name="TextBox 4"/>
          <p:cNvSpPr txBox="1"/>
          <p:nvPr/>
        </p:nvSpPr>
        <p:spPr>
          <a:xfrm>
            <a:off x="1417320" y="5486400"/>
            <a:ext cx="15544800" cy="1097280"/>
          </a:xfrm>
          <a:prstGeom prst="rect">
            <a:avLst/>
          </a:prstGeom>
          <a:noFill/>
        </p:spPr>
        <p:txBody>
          <a:bodyPr wrap="square" anchor="t" lIns="0" rIns="0" tIns="0" bIns="0">
            <a:spAutoFit/>
          </a:bodyPr>
          <a:lstStyle/>
          <a:p>
            <a:pPr algn="l">
              <a:spcAft>
                <a:spcPts val="300"/>
              </a:spcAft>
            </a:pPr>
            <a:r>
              <a:rPr sz="5000" b="1">
                <a:solidFill>
                  <a:srgbClr val="FFFFFF"/>
                </a:solidFill>
                <a:latin typeface="Inter"/>
              </a:rPr>
              <a:t>Kiến trúc &amp; công nghệ</a:t>
            </a:r>
          </a:p>
        </p:txBody>
      </p:sp>
      <p:sp>
        <p:nvSpPr>
          <p:cNvPr id="6" name="TextBox 5"/>
          <p:cNvSpPr txBox="1"/>
          <p:nvPr/>
        </p:nvSpPr>
        <p:spPr>
          <a:xfrm>
            <a:off x="1417320" y="6492240"/>
            <a:ext cx="15544800" cy="731520"/>
          </a:xfrm>
          <a:prstGeom prst="rect">
            <a:avLst/>
          </a:prstGeom>
          <a:noFill/>
        </p:spPr>
        <p:txBody>
          <a:bodyPr wrap="square" anchor="t" lIns="0" rIns="0" tIns="0" bIns="0">
            <a:spAutoFit/>
          </a:bodyPr>
          <a:lstStyle/>
          <a:p>
            <a:pPr algn="l">
              <a:spcAft>
                <a:spcPts val="300"/>
              </a:spcAft>
            </a:pPr>
            <a:r>
              <a:rPr sz="2400" b="0">
                <a:solidFill>
                  <a:srgbClr val="9FC6D4"/>
                </a:solidFill>
                <a:latin typeface="Inter"/>
              </a:rPr>
              <a:t>Architecture &amp; technology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03 · KỸ THUẬT</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Kiến trúc tổng thể</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2124845"/>
            <a:ext cx="12124944" cy="6448788"/>
          </a:xfrm>
          <a:prstGeom prst="roundRect">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ien-truc-tong-the.png"/>
          <p:cNvPicPr>
            <a:picLocks noChangeAspect="1"/>
          </p:cNvPicPr>
          <p:nvPr/>
        </p:nvPicPr>
        <p:blipFill>
          <a:blip r:embed="rId2"/>
          <a:stretch>
            <a:fillRect/>
          </a:stretch>
        </p:blipFill>
        <p:spPr>
          <a:xfrm>
            <a:off x="822960" y="2289437"/>
            <a:ext cx="11795760" cy="6119604"/>
          </a:xfrm>
          <a:prstGeom prst="rect">
            <a:avLst/>
          </a:prstGeom>
        </p:spPr>
      </p:pic>
      <p:sp>
        <p:nvSpPr>
          <p:cNvPr id="8" name="TextBox 7"/>
          <p:cNvSpPr txBox="1"/>
          <p:nvPr/>
        </p:nvSpPr>
        <p:spPr>
          <a:xfrm>
            <a:off x="12984480" y="2606040"/>
            <a:ext cx="4754880" cy="54864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ĐIỂM CHÍNH</a:t>
            </a:r>
          </a:p>
        </p:txBody>
      </p:sp>
      <p:sp>
        <p:nvSpPr>
          <p:cNvPr id="9" name="TextBox 8"/>
          <p:cNvSpPr txBox="1"/>
          <p:nvPr/>
        </p:nvSpPr>
        <p:spPr>
          <a:xfrm>
            <a:off x="12984480" y="3200400"/>
            <a:ext cx="4754880" cy="4754880"/>
          </a:xfrm>
          <a:prstGeom prst="rect">
            <a:avLst/>
          </a:prstGeom>
          <a:noFill/>
        </p:spPr>
        <p:txBody>
          <a:bodyPr wrap="square" anchor="t" lIns="0" rIns="0" tIns="0" bIns="0">
            <a:spAutoFit/>
          </a:bodyPr>
          <a:lstStyle/>
          <a:p>
            <a:pPr algn="l">
              <a:lnSpc>
                <a:spcPct val="102000"/>
              </a:lnSpc>
              <a:spcAft>
                <a:spcPts val="1600"/>
              </a:spcAft>
            </a:pPr>
            <a:r>
              <a:rPr sz="1700" b="1">
                <a:solidFill>
                  <a:srgbClr val="0090B3"/>
                </a:solidFill>
                <a:latin typeface="Inter"/>
              </a:rPr>
              <a:t>•  </a:t>
            </a:r>
            <a:r>
              <a:rPr sz="1700" b="0">
                <a:solidFill>
                  <a:srgbClr val="344054"/>
                </a:solidFill>
                <a:latin typeface="Inter"/>
              </a:rPr>
              <a:t>Microservices · cloud-native (CNCF)</a:t>
            </a:r>
          </a:p>
          <a:p>
            <a:pPr algn="l">
              <a:lnSpc>
                <a:spcPct val="102000"/>
              </a:lnSpc>
              <a:spcAft>
                <a:spcPts val="1600"/>
              </a:spcAft>
            </a:pPr>
            <a:r>
              <a:rPr sz="1700" b="1">
                <a:solidFill>
                  <a:srgbClr val="0090B3"/>
                </a:solidFill>
                <a:latin typeface="Inter"/>
              </a:rPr>
              <a:t>•  </a:t>
            </a:r>
            <a:r>
              <a:rPr sz="1700" b="0">
                <a:solidFill>
                  <a:srgbClr val="344054"/>
                </a:solidFill>
                <a:latin typeface="Inter"/>
              </a:rPr>
              <a:t>Mọi truy cập qua một Gateway chung</a:t>
            </a:r>
          </a:p>
          <a:p>
            <a:pPr algn="l">
              <a:lnSpc>
                <a:spcPct val="102000"/>
              </a:lnSpc>
              <a:spcAft>
                <a:spcPts val="1600"/>
              </a:spcAft>
            </a:pPr>
            <a:r>
              <a:rPr sz="1700" b="1">
                <a:solidFill>
                  <a:srgbClr val="0090B3"/>
                </a:solidFill>
                <a:latin typeface="Inter"/>
              </a:rPr>
              <a:t>•  </a:t>
            </a:r>
            <a:r>
              <a:rPr sz="1700" b="0">
                <a:solidFill>
                  <a:srgbClr val="344054"/>
                </a:solidFill>
                <a:latin typeface="Inter"/>
              </a:rPr>
              <a:t>Tách dữ liệu vận hành &amp; phân tích</a:t>
            </a:r>
          </a:p>
          <a:p>
            <a:pPr algn="l">
              <a:lnSpc>
                <a:spcPct val="102000"/>
              </a:lnSpc>
              <a:spcAft>
                <a:spcPts val="1600"/>
              </a:spcAft>
            </a:pPr>
            <a:r>
              <a:rPr sz="1700" b="1">
                <a:solidFill>
                  <a:srgbClr val="0090B3"/>
                </a:solidFill>
                <a:latin typeface="Inter"/>
              </a:rPr>
              <a:t>•  </a:t>
            </a:r>
            <a:r>
              <a:rPr sz="1700" b="0">
                <a:solidFill>
                  <a:srgbClr val="344054"/>
                </a:solidFill>
                <a:latin typeface="Inter"/>
              </a:rPr>
              <a:t>Chừa sẵn lớp AI/ML cho tương lai</a:t>
            </a:r>
          </a:p>
        </p:txBody>
      </p:sp>
      <p:sp>
        <p:nvSpPr>
          <p:cNvPr id="10" name="TextBox 9"/>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1" name="TextBox 10"/>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03 · KỸ THUẬT</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Kiến trúc triển khai</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69051" y="2075688"/>
            <a:ext cx="6074376" cy="7735823"/>
          </a:xfrm>
          <a:prstGeom prst="roundRect">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ien-truc-trien-khai.png"/>
          <p:cNvPicPr>
            <a:picLocks noChangeAspect="1"/>
          </p:cNvPicPr>
          <p:nvPr/>
        </p:nvPicPr>
        <p:blipFill>
          <a:blip r:embed="rId2"/>
          <a:stretch>
            <a:fillRect/>
          </a:stretch>
        </p:blipFill>
        <p:spPr>
          <a:xfrm>
            <a:off x="1333643" y="2240280"/>
            <a:ext cx="5745192" cy="7406640"/>
          </a:xfrm>
          <a:prstGeom prst="rect">
            <a:avLst/>
          </a:prstGeom>
        </p:spPr>
      </p:pic>
      <p:sp>
        <p:nvSpPr>
          <p:cNvPr id="8" name="TextBox 7"/>
          <p:cNvSpPr txBox="1"/>
          <p:nvPr/>
        </p:nvSpPr>
        <p:spPr>
          <a:xfrm>
            <a:off x="8229600" y="2743200"/>
            <a:ext cx="9144000" cy="54864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PHÂN VÙNG &amp; THÀNH PHẦN</a:t>
            </a:r>
          </a:p>
        </p:txBody>
      </p:sp>
      <p:sp>
        <p:nvSpPr>
          <p:cNvPr id="9" name="TextBox 8"/>
          <p:cNvSpPr txBox="1"/>
          <p:nvPr/>
        </p:nvSpPr>
        <p:spPr>
          <a:xfrm>
            <a:off x="8229600" y="3383280"/>
            <a:ext cx="9144000" cy="5486400"/>
          </a:xfrm>
          <a:prstGeom prst="rect">
            <a:avLst/>
          </a:prstGeom>
          <a:noFill/>
        </p:spPr>
        <p:txBody>
          <a:bodyPr wrap="square" anchor="t" lIns="0" rIns="0" tIns="0" bIns="0">
            <a:spAutoFit/>
          </a:bodyPr>
          <a:lstStyle/>
          <a:p>
            <a:pPr algn="l">
              <a:lnSpc>
                <a:spcPct val="102000"/>
              </a:lnSpc>
              <a:spcAft>
                <a:spcPts val="1500"/>
              </a:spcAft>
            </a:pPr>
            <a:r>
              <a:rPr sz="1800" b="1">
                <a:solidFill>
                  <a:srgbClr val="0090B3"/>
                </a:solidFill>
                <a:latin typeface="Inter"/>
              </a:rPr>
              <a:t>•  </a:t>
            </a:r>
            <a:r>
              <a:rPr sz="1800" b="0">
                <a:solidFill>
                  <a:srgbClr val="344054"/>
                </a:solidFill>
                <a:latin typeface="Inter"/>
              </a:rPr>
              <a:t>Ba vùng tách biệt: ngoài · DMZ · nội bộ</a:t>
            </a:r>
          </a:p>
          <a:p>
            <a:pPr algn="l">
              <a:lnSpc>
                <a:spcPct val="102000"/>
              </a:lnSpc>
              <a:spcAft>
                <a:spcPts val="1500"/>
              </a:spcAft>
            </a:pPr>
            <a:r>
              <a:rPr sz="1800" b="1">
                <a:solidFill>
                  <a:srgbClr val="0090B3"/>
                </a:solidFill>
                <a:latin typeface="Inter"/>
              </a:rPr>
              <a:t>•  </a:t>
            </a:r>
            <a:r>
              <a:rPr sz="1800" b="0">
                <a:solidFill>
                  <a:srgbClr val="344054"/>
                </a:solidFill>
                <a:latin typeface="Inter"/>
              </a:rPr>
              <a:t>Cổng vào: NGINX (HA) → API Gateway (APISIX) → Keycloak</a:t>
            </a:r>
          </a:p>
          <a:p>
            <a:pPr algn="l">
              <a:lnSpc>
                <a:spcPct val="102000"/>
              </a:lnSpc>
              <a:spcAft>
                <a:spcPts val="1500"/>
              </a:spcAft>
            </a:pPr>
            <a:r>
              <a:rPr sz="1800" b="1">
                <a:solidFill>
                  <a:srgbClr val="0090B3"/>
                </a:solidFill>
                <a:latin typeface="Inter"/>
              </a:rPr>
              <a:t>•  </a:t>
            </a:r>
            <a:r>
              <a:rPr sz="1800" b="0">
                <a:solidFill>
                  <a:srgbClr val="344054"/>
                </a:solidFill>
                <a:latin typeface="Inter"/>
              </a:rPr>
              <a:t>Tích hợp: MinIO (file) · Redis (cache) · Kafka (sự kiện)</a:t>
            </a:r>
          </a:p>
          <a:p>
            <a:pPr algn="l">
              <a:lnSpc>
                <a:spcPct val="102000"/>
              </a:lnSpc>
              <a:spcAft>
                <a:spcPts val="1500"/>
              </a:spcAft>
            </a:pPr>
            <a:r>
              <a:rPr sz="1800" b="1">
                <a:solidFill>
                  <a:srgbClr val="0090B3"/>
                </a:solidFill>
                <a:latin typeface="Inter"/>
              </a:rPr>
              <a:t>•  </a:t>
            </a:r>
            <a:r>
              <a:rPr sz="1800" b="0">
                <a:solidFill>
                  <a:srgbClr val="344054"/>
                </a:solidFill>
                <a:latin typeface="Inter"/>
              </a:rPr>
              <a:t>Dữ liệu: mỗi miền một DB, Primary–Replica qua ProxySQL</a:t>
            </a:r>
          </a:p>
          <a:p>
            <a:pPr algn="l">
              <a:lnSpc>
                <a:spcPct val="102000"/>
              </a:lnSpc>
              <a:spcAft>
                <a:spcPts val="1500"/>
              </a:spcAft>
            </a:pPr>
            <a:r>
              <a:rPr sz="1800" b="1">
                <a:solidFill>
                  <a:srgbClr val="0090B3"/>
                </a:solidFill>
                <a:latin typeface="Inter"/>
              </a:rPr>
              <a:t>•  </a:t>
            </a:r>
            <a:r>
              <a:rPr sz="1800" b="0">
                <a:solidFill>
                  <a:srgbClr val="344054"/>
                </a:solidFill>
                <a:latin typeface="Inter"/>
              </a:rPr>
              <a:t>Giám sát: Loki · Tempo · Mimir · Grafana</a:t>
            </a:r>
          </a:p>
          <a:p>
            <a:pPr algn="l">
              <a:lnSpc>
                <a:spcPct val="102000"/>
              </a:lnSpc>
              <a:spcAft>
                <a:spcPts val="1500"/>
              </a:spcAft>
            </a:pPr>
            <a:r>
              <a:rPr sz="1800" b="1">
                <a:solidFill>
                  <a:srgbClr val="0090B3"/>
                </a:solidFill>
                <a:latin typeface="Inter"/>
              </a:rPr>
              <a:t>•  </a:t>
            </a:r>
            <a:r>
              <a:rPr sz="1800" b="0">
                <a:solidFill>
                  <a:srgbClr val="344054"/>
                </a:solidFill>
                <a:latin typeface="Inter"/>
              </a:rPr>
              <a:t>CI/CD: GitLab · ArgoCD</a:t>
            </a:r>
          </a:p>
        </p:txBody>
      </p:sp>
      <p:sp>
        <p:nvSpPr>
          <p:cNvPr id="10" name="TextBox 9"/>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1" name="TextBox 10"/>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03 · KỸ THUẬT</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Công nghệ · Bảo mật · Vận hành</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560320"/>
            <a:ext cx="5394960" cy="48463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7" name="Rounded Rectangle 6"/>
          <p:cNvSpPr/>
          <p:nvPr/>
        </p:nvSpPr>
        <p:spPr>
          <a:xfrm>
            <a:off x="914400" y="2560320"/>
            <a:ext cx="5394960" cy="914400"/>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560320"/>
            <a:ext cx="4754880" cy="914400"/>
          </a:xfrm>
          <a:prstGeom prst="rect">
            <a:avLst/>
          </a:prstGeom>
          <a:noFill/>
        </p:spPr>
        <p:txBody>
          <a:bodyPr wrap="square" anchor="ctr" lIns="0" rIns="0" tIns="0" bIns="0">
            <a:spAutoFit/>
          </a:bodyPr>
          <a:lstStyle/>
          <a:p>
            <a:pPr algn="l">
              <a:spcAft>
                <a:spcPts val="300"/>
              </a:spcAft>
            </a:pPr>
            <a:r>
              <a:rPr sz="2000" b="1">
                <a:solidFill>
                  <a:srgbClr val="FFFFFF"/>
                </a:solidFill>
                <a:latin typeface="Inter"/>
              </a:rPr>
              <a:t>Công nghệ mở, phổ biến</a:t>
            </a:r>
          </a:p>
        </p:txBody>
      </p:sp>
      <p:sp>
        <p:nvSpPr>
          <p:cNvPr id="9" name="TextBox 8"/>
          <p:cNvSpPr txBox="1"/>
          <p:nvPr/>
        </p:nvSpPr>
        <p:spPr>
          <a:xfrm>
            <a:off x="1280160" y="3749039"/>
            <a:ext cx="4663440" cy="3474720"/>
          </a:xfrm>
          <a:prstGeom prst="rect">
            <a:avLst/>
          </a:prstGeom>
          <a:noFill/>
        </p:spPr>
        <p:txBody>
          <a:bodyPr wrap="square" anchor="t" lIns="0" rIns="0" tIns="0" bIns="0">
            <a:spAutoFit/>
          </a:bodyPr>
          <a:lstStyle/>
          <a:p>
            <a:pPr algn="l">
              <a:lnSpc>
                <a:spcPct val="102000"/>
              </a:lnSpc>
              <a:spcAft>
                <a:spcPts val="1300"/>
              </a:spcAft>
            </a:pPr>
            <a:r>
              <a:rPr sz="1800" b="1">
                <a:solidFill>
                  <a:srgbClr val="0090B3"/>
                </a:solidFill>
                <a:latin typeface="Inter"/>
              </a:rPr>
              <a:t>•  </a:t>
            </a:r>
            <a:r>
              <a:rPr sz="1800" b="0">
                <a:solidFill>
                  <a:srgbClr val="344054"/>
                </a:solidFill>
                <a:latin typeface="Inter"/>
              </a:rPr>
              <a:t>Kubernetes, Kafka</a:t>
            </a:r>
          </a:p>
          <a:p>
            <a:pPr algn="l">
              <a:lnSpc>
                <a:spcPct val="102000"/>
              </a:lnSpc>
              <a:spcAft>
                <a:spcPts val="1300"/>
              </a:spcAft>
            </a:pPr>
            <a:r>
              <a:rPr sz="1800" b="1">
                <a:solidFill>
                  <a:srgbClr val="0090B3"/>
                </a:solidFill>
                <a:latin typeface="Inter"/>
              </a:rPr>
              <a:t>•  </a:t>
            </a:r>
            <a:r>
              <a:rPr sz="1800" b="0">
                <a:solidFill>
                  <a:srgbClr val="344054"/>
                </a:solidFill>
                <a:latin typeface="Inter"/>
              </a:rPr>
              <a:t>Keycloak, Redis</a:t>
            </a:r>
          </a:p>
          <a:p>
            <a:pPr algn="l">
              <a:lnSpc>
                <a:spcPct val="102000"/>
              </a:lnSpc>
              <a:spcAft>
                <a:spcPts val="1300"/>
              </a:spcAft>
            </a:pPr>
            <a:r>
              <a:rPr sz="1800" b="1">
                <a:solidFill>
                  <a:srgbClr val="0090B3"/>
                </a:solidFill>
                <a:latin typeface="Inter"/>
              </a:rPr>
              <a:t>•  </a:t>
            </a:r>
            <a:r>
              <a:rPr sz="1800" b="0">
                <a:solidFill>
                  <a:srgbClr val="344054"/>
                </a:solidFill>
                <a:latin typeface="Inter"/>
              </a:rPr>
              <a:t>Angular, Flutter</a:t>
            </a:r>
          </a:p>
          <a:p>
            <a:pPr algn="l">
              <a:lnSpc>
                <a:spcPct val="102000"/>
              </a:lnSpc>
              <a:spcAft>
                <a:spcPts val="1300"/>
              </a:spcAft>
            </a:pPr>
            <a:r>
              <a:rPr sz="1800" b="1">
                <a:solidFill>
                  <a:srgbClr val="0090B3"/>
                </a:solidFill>
                <a:latin typeface="Inter"/>
              </a:rPr>
              <a:t>•  </a:t>
            </a:r>
            <a:r>
              <a:rPr sz="1800" b="0">
                <a:solidFill>
                  <a:srgbClr val="344054"/>
                </a:solidFill>
                <a:latin typeface="Inter"/>
              </a:rPr>
              <a:t>Viettel đã chạy thật</a:t>
            </a:r>
          </a:p>
        </p:txBody>
      </p:sp>
      <p:sp>
        <p:nvSpPr>
          <p:cNvPr id="10" name="Rounded Rectangle 9"/>
          <p:cNvSpPr/>
          <p:nvPr/>
        </p:nvSpPr>
        <p:spPr>
          <a:xfrm>
            <a:off x="6583680" y="2560320"/>
            <a:ext cx="5394960" cy="48463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1" name="Rounded Rectangle 10"/>
          <p:cNvSpPr/>
          <p:nvPr/>
        </p:nvSpPr>
        <p:spPr>
          <a:xfrm>
            <a:off x="6583680" y="2560320"/>
            <a:ext cx="5394960" cy="914400"/>
          </a:xfrm>
          <a:prstGeom prst="round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2560320"/>
            <a:ext cx="4754880" cy="914400"/>
          </a:xfrm>
          <a:prstGeom prst="rect">
            <a:avLst/>
          </a:prstGeom>
          <a:noFill/>
        </p:spPr>
        <p:txBody>
          <a:bodyPr wrap="square" anchor="ctr" lIns="0" rIns="0" tIns="0" bIns="0">
            <a:spAutoFit/>
          </a:bodyPr>
          <a:lstStyle/>
          <a:p>
            <a:pPr algn="l">
              <a:spcAft>
                <a:spcPts val="300"/>
              </a:spcAft>
            </a:pPr>
            <a:r>
              <a:rPr sz="2000" b="1">
                <a:solidFill>
                  <a:srgbClr val="FFFFFF"/>
                </a:solidFill>
                <a:latin typeface="Inter"/>
              </a:rPr>
              <a:t>Bảo mật nhiều lớp</a:t>
            </a:r>
          </a:p>
        </p:txBody>
      </p:sp>
      <p:sp>
        <p:nvSpPr>
          <p:cNvPr id="13" name="TextBox 12"/>
          <p:cNvSpPr txBox="1"/>
          <p:nvPr/>
        </p:nvSpPr>
        <p:spPr>
          <a:xfrm>
            <a:off x="6949440" y="3749039"/>
            <a:ext cx="4663440" cy="3474720"/>
          </a:xfrm>
          <a:prstGeom prst="rect">
            <a:avLst/>
          </a:prstGeom>
          <a:noFill/>
        </p:spPr>
        <p:txBody>
          <a:bodyPr wrap="square" anchor="t" lIns="0" rIns="0" tIns="0" bIns="0">
            <a:spAutoFit/>
          </a:bodyPr>
          <a:lstStyle/>
          <a:p>
            <a:pPr algn="l">
              <a:lnSpc>
                <a:spcPct val="102000"/>
              </a:lnSpc>
              <a:spcAft>
                <a:spcPts val="1300"/>
              </a:spcAft>
            </a:pPr>
            <a:r>
              <a:rPr sz="1800" b="1">
                <a:solidFill>
                  <a:srgbClr val="0090B3"/>
                </a:solidFill>
                <a:latin typeface="Inter"/>
              </a:rPr>
              <a:t>•  </a:t>
            </a:r>
            <a:r>
              <a:rPr sz="1800" b="0">
                <a:solidFill>
                  <a:srgbClr val="344054"/>
                </a:solidFill>
                <a:latin typeface="Inter"/>
              </a:rPr>
              <a:t>Mã hóa đường truyền</a:t>
            </a:r>
          </a:p>
          <a:p>
            <a:pPr algn="l">
              <a:lnSpc>
                <a:spcPct val="102000"/>
              </a:lnSpc>
              <a:spcAft>
                <a:spcPts val="1300"/>
              </a:spcAft>
            </a:pPr>
            <a:r>
              <a:rPr sz="1800" b="1">
                <a:solidFill>
                  <a:srgbClr val="0090B3"/>
                </a:solidFill>
                <a:latin typeface="Inter"/>
              </a:rPr>
              <a:t>•  </a:t>
            </a:r>
            <a:r>
              <a:rPr sz="1800" b="0">
                <a:solidFill>
                  <a:srgbClr val="344054"/>
                </a:solidFill>
                <a:latin typeface="Inter"/>
              </a:rPr>
              <a:t>Phân quyền theo vai trò</a:t>
            </a:r>
          </a:p>
          <a:p>
            <a:pPr algn="l">
              <a:lnSpc>
                <a:spcPct val="102000"/>
              </a:lnSpc>
              <a:spcAft>
                <a:spcPts val="1300"/>
              </a:spcAft>
            </a:pPr>
            <a:r>
              <a:rPr sz="1800" b="1">
                <a:solidFill>
                  <a:srgbClr val="0090B3"/>
                </a:solidFill>
                <a:latin typeface="Inter"/>
              </a:rPr>
              <a:t>•  </a:t>
            </a:r>
            <a:r>
              <a:rPr sz="1800" b="0">
                <a:solidFill>
                  <a:srgbClr val="344054"/>
                </a:solidFill>
                <a:latin typeface="Inter"/>
              </a:rPr>
              <a:t>Chống tấn công (WAF)</a:t>
            </a:r>
          </a:p>
          <a:p>
            <a:pPr algn="l">
              <a:lnSpc>
                <a:spcPct val="102000"/>
              </a:lnSpc>
              <a:spcAft>
                <a:spcPts val="1300"/>
              </a:spcAft>
            </a:pPr>
            <a:r>
              <a:rPr sz="1800" b="1">
                <a:solidFill>
                  <a:srgbClr val="0090B3"/>
                </a:solidFill>
                <a:latin typeface="Inter"/>
              </a:rPr>
              <a:t>•  </a:t>
            </a:r>
            <a:r>
              <a:rPr sz="1800" b="0">
                <a:solidFill>
                  <a:srgbClr val="344054"/>
                </a:solidFill>
                <a:latin typeface="Inter"/>
              </a:rPr>
              <a:t>Đạt ATTT cấp độ 3</a:t>
            </a:r>
          </a:p>
        </p:txBody>
      </p:sp>
      <p:sp>
        <p:nvSpPr>
          <p:cNvPr id="14" name="Rounded Rectangle 13"/>
          <p:cNvSpPr/>
          <p:nvPr/>
        </p:nvSpPr>
        <p:spPr>
          <a:xfrm>
            <a:off x="12252960" y="2560320"/>
            <a:ext cx="5394960" cy="48463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5" name="Rounded Rectangle 14"/>
          <p:cNvSpPr/>
          <p:nvPr/>
        </p:nvSpPr>
        <p:spPr>
          <a:xfrm>
            <a:off x="12252960" y="2560320"/>
            <a:ext cx="5394960" cy="914400"/>
          </a:xfrm>
          <a:prstGeom prst="roundRect">
            <a:avLst/>
          </a:prstGeom>
          <a:solidFill>
            <a:srgbClr val="0150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73000" y="2560320"/>
            <a:ext cx="4754880" cy="914400"/>
          </a:xfrm>
          <a:prstGeom prst="rect">
            <a:avLst/>
          </a:prstGeom>
          <a:noFill/>
        </p:spPr>
        <p:txBody>
          <a:bodyPr wrap="square" anchor="ctr" lIns="0" rIns="0" tIns="0" bIns="0">
            <a:spAutoFit/>
          </a:bodyPr>
          <a:lstStyle/>
          <a:p>
            <a:pPr algn="l">
              <a:spcAft>
                <a:spcPts val="300"/>
              </a:spcAft>
            </a:pPr>
            <a:r>
              <a:rPr sz="2000" b="1">
                <a:solidFill>
                  <a:srgbClr val="FFFFFF"/>
                </a:solidFill>
                <a:latin typeface="Inter"/>
              </a:rPr>
              <a:t>Vận hành 24/7</a:t>
            </a:r>
          </a:p>
        </p:txBody>
      </p:sp>
      <p:sp>
        <p:nvSpPr>
          <p:cNvPr id="17" name="TextBox 16"/>
          <p:cNvSpPr txBox="1"/>
          <p:nvPr/>
        </p:nvSpPr>
        <p:spPr>
          <a:xfrm>
            <a:off x="12618720" y="3749039"/>
            <a:ext cx="4663440" cy="3474720"/>
          </a:xfrm>
          <a:prstGeom prst="rect">
            <a:avLst/>
          </a:prstGeom>
          <a:noFill/>
        </p:spPr>
        <p:txBody>
          <a:bodyPr wrap="square" anchor="t" lIns="0" rIns="0" tIns="0" bIns="0">
            <a:spAutoFit/>
          </a:bodyPr>
          <a:lstStyle/>
          <a:p>
            <a:pPr algn="l">
              <a:lnSpc>
                <a:spcPct val="102000"/>
              </a:lnSpc>
              <a:spcAft>
                <a:spcPts val="1300"/>
              </a:spcAft>
            </a:pPr>
            <a:r>
              <a:rPr sz="1800" b="1">
                <a:solidFill>
                  <a:srgbClr val="0090B3"/>
                </a:solidFill>
                <a:latin typeface="Inter"/>
              </a:rPr>
              <a:t>•  </a:t>
            </a:r>
            <a:r>
              <a:rPr sz="1800" b="0">
                <a:solidFill>
                  <a:srgbClr val="344054"/>
                </a:solidFill>
                <a:latin typeface="Inter"/>
              </a:rPr>
              <a:t>Giám sát 3 chiều</a:t>
            </a:r>
          </a:p>
          <a:p>
            <a:pPr algn="l">
              <a:lnSpc>
                <a:spcPct val="102000"/>
              </a:lnSpc>
              <a:spcAft>
                <a:spcPts val="1300"/>
              </a:spcAft>
            </a:pPr>
            <a:r>
              <a:rPr sz="1800" b="1">
                <a:solidFill>
                  <a:srgbClr val="0090B3"/>
                </a:solidFill>
                <a:latin typeface="Inter"/>
              </a:rPr>
              <a:t>•  </a:t>
            </a:r>
            <a:r>
              <a:rPr sz="1800" b="0">
                <a:solidFill>
                  <a:srgbClr val="344054"/>
                </a:solidFill>
                <a:latin typeface="Inter"/>
              </a:rPr>
              <a:t>Cảnh báo sớm</a:t>
            </a:r>
          </a:p>
          <a:p>
            <a:pPr algn="l">
              <a:lnSpc>
                <a:spcPct val="102000"/>
              </a:lnSpc>
              <a:spcAft>
                <a:spcPts val="1300"/>
              </a:spcAft>
            </a:pPr>
            <a:r>
              <a:rPr sz="1800" b="1">
                <a:solidFill>
                  <a:srgbClr val="0090B3"/>
                </a:solidFill>
                <a:latin typeface="Inter"/>
              </a:rPr>
              <a:t>•  </a:t>
            </a:r>
            <a:r>
              <a:rPr sz="1800" b="0">
                <a:solidFill>
                  <a:srgbClr val="344054"/>
                </a:solidFill>
                <a:latin typeface="Inter"/>
              </a:rPr>
              <a:t>SLA ≥ 99%</a:t>
            </a:r>
          </a:p>
          <a:p>
            <a:pPr algn="l">
              <a:lnSpc>
                <a:spcPct val="102000"/>
              </a:lnSpc>
              <a:spcAft>
                <a:spcPts val="1300"/>
              </a:spcAft>
            </a:pPr>
            <a:r>
              <a:rPr sz="1800" b="1">
                <a:solidFill>
                  <a:srgbClr val="0090B3"/>
                </a:solidFill>
                <a:latin typeface="Inter"/>
              </a:rPr>
              <a:t>•  </a:t>
            </a:r>
            <a:r>
              <a:rPr sz="1800" b="0">
                <a:solidFill>
                  <a:srgbClr val="344054"/>
                </a:solidFill>
                <a:latin typeface="Inter"/>
              </a:rPr>
              <a:t>Khôi phục đúng mốc thời gian</a:t>
            </a:r>
          </a:p>
        </p:txBody>
      </p:sp>
      <p:sp>
        <p:nvSpPr>
          <p:cNvPr id="18" name="TextBox 17"/>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9" name="TextBox 18"/>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03 · KỸ THUẬT</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Định cỡ &amp; tuân thủ</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16459200" cy="54864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ĐÁP ỨNG ĐÚNG YÊU CẦU HỒ SƠ VNA</a:t>
            </a:r>
          </a:p>
        </p:txBody>
      </p:sp>
      <p:sp>
        <p:nvSpPr>
          <p:cNvPr id="7" name="Rounded Rectangle 6"/>
          <p:cNvSpPr/>
          <p:nvPr/>
        </p:nvSpPr>
        <p:spPr>
          <a:xfrm>
            <a:off x="914400" y="2834640"/>
            <a:ext cx="5394960" cy="192024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8" name="TextBox 7"/>
          <p:cNvSpPr txBox="1"/>
          <p:nvPr/>
        </p:nvSpPr>
        <p:spPr>
          <a:xfrm>
            <a:off x="1280160" y="2971800"/>
            <a:ext cx="4663440" cy="1005840"/>
          </a:xfrm>
          <a:prstGeom prst="rect">
            <a:avLst/>
          </a:prstGeom>
          <a:noFill/>
        </p:spPr>
        <p:txBody>
          <a:bodyPr wrap="square" anchor="t" lIns="0" rIns="0" tIns="0" bIns="0">
            <a:spAutoFit/>
          </a:bodyPr>
          <a:lstStyle/>
          <a:p>
            <a:pPr algn="l">
              <a:spcAft>
                <a:spcPts val="300"/>
              </a:spcAft>
            </a:pPr>
            <a:r>
              <a:rPr sz="4600" b="1">
                <a:solidFill>
                  <a:srgbClr val="003E54"/>
                </a:solidFill>
                <a:latin typeface="Inter"/>
              </a:rPr>
              <a:t>200</a:t>
            </a:r>
          </a:p>
        </p:txBody>
      </p:sp>
      <p:sp>
        <p:nvSpPr>
          <p:cNvPr id="9" name="TextBox 8"/>
          <p:cNvSpPr txBox="1"/>
          <p:nvPr/>
        </p:nvSpPr>
        <p:spPr>
          <a:xfrm>
            <a:off x="1325880" y="4023360"/>
            <a:ext cx="4663440" cy="640080"/>
          </a:xfrm>
          <a:prstGeom prst="rect">
            <a:avLst/>
          </a:prstGeom>
          <a:noFill/>
        </p:spPr>
        <p:txBody>
          <a:bodyPr wrap="square" anchor="t" lIns="0" rIns="0" tIns="0" bIns="0">
            <a:spAutoFit/>
          </a:bodyPr>
          <a:lstStyle/>
          <a:p>
            <a:pPr algn="l">
              <a:spcAft>
                <a:spcPts val="300"/>
              </a:spcAft>
            </a:pPr>
            <a:r>
              <a:rPr sz="1800" b="0">
                <a:solidFill>
                  <a:srgbClr val="667085"/>
                </a:solidFill>
                <a:latin typeface="Inter"/>
              </a:rPr>
              <a:t>người dùng đồng thời</a:t>
            </a:r>
          </a:p>
        </p:txBody>
      </p:sp>
      <p:sp>
        <p:nvSpPr>
          <p:cNvPr id="10" name="Rounded Rectangle 9"/>
          <p:cNvSpPr/>
          <p:nvPr/>
        </p:nvSpPr>
        <p:spPr>
          <a:xfrm>
            <a:off x="6583680" y="2834640"/>
            <a:ext cx="5394960" cy="192024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1" name="TextBox 10"/>
          <p:cNvSpPr txBox="1"/>
          <p:nvPr/>
        </p:nvSpPr>
        <p:spPr>
          <a:xfrm>
            <a:off x="6949440" y="2971800"/>
            <a:ext cx="4663440" cy="1005840"/>
          </a:xfrm>
          <a:prstGeom prst="rect">
            <a:avLst/>
          </a:prstGeom>
          <a:noFill/>
        </p:spPr>
        <p:txBody>
          <a:bodyPr wrap="square" anchor="t" lIns="0" rIns="0" tIns="0" bIns="0">
            <a:spAutoFit/>
          </a:bodyPr>
          <a:lstStyle/>
          <a:p>
            <a:pPr algn="l">
              <a:spcAft>
                <a:spcPts val="300"/>
              </a:spcAft>
            </a:pPr>
            <a:r>
              <a:rPr sz="4600" b="1">
                <a:solidFill>
                  <a:srgbClr val="003E54"/>
                </a:solidFill>
                <a:latin typeface="Inter"/>
              </a:rPr>
              <a:t>500</a:t>
            </a:r>
          </a:p>
        </p:txBody>
      </p:sp>
      <p:sp>
        <p:nvSpPr>
          <p:cNvPr id="12" name="TextBox 11"/>
          <p:cNvSpPr txBox="1"/>
          <p:nvPr/>
        </p:nvSpPr>
        <p:spPr>
          <a:xfrm>
            <a:off x="6995160" y="4023360"/>
            <a:ext cx="4663440" cy="640080"/>
          </a:xfrm>
          <a:prstGeom prst="rect">
            <a:avLst/>
          </a:prstGeom>
          <a:noFill/>
        </p:spPr>
        <p:txBody>
          <a:bodyPr wrap="square" anchor="t" lIns="0" rIns="0" tIns="0" bIns="0">
            <a:spAutoFit/>
          </a:bodyPr>
          <a:lstStyle/>
          <a:p>
            <a:pPr algn="l">
              <a:spcAft>
                <a:spcPts val="300"/>
              </a:spcAft>
            </a:pPr>
            <a:r>
              <a:rPr sz="1800" b="0">
                <a:solidFill>
                  <a:srgbClr val="667085"/>
                </a:solidFill>
                <a:latin typeface="Inter"/>
              </a:rPr>
              <a:t>request / giây</a:t>
            </a:r>
          </a:p>
        </p:txBody>
      </p:sp>
      <p:sp>
        <p:nvSpPr>
          <p:cNvPr id="13" name="Rounded Rectangle 12"/>
          <p:cNvSpPr/>
          <p:nvPr/>
        </p:nvSpPr>
        <p:spPr>
          <a:xfrm>
            <a:off x="12252960" y="2834640"/>
            <a:ext cx="5394960" cy="192024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4" name="TextBox 13"/>
          <p:cNvSpPr txBox="1"/>
          <p:nvPr/>
        </p:nvSpPr>
        <p:spPr>
          <a:xfrm>
            <a:off x="12618720" y="2971800"/>
            <a:ext cx="4663440" cy="1005840"/>
          </a:xfrm>
          <a:prstGeom prst="rect">
            <a:avLst/>
          </a:prstGeom>
          <a:noFill/>
        </p:spPr>
        <p:txBody>
          <a:bodyPr wrap="square" anchor="t" lIns="0" rIns="0" tIns="0" bIns="0">
            <a:spAutoFit/>
          </a:bodyPr>
          <a:lstStyle/>
          <a:p>
            <a:pPr algn="l">
              <a:spcAft>
                <a:spcPts val="300"/>
              </a:spcAft>
            </a:pPr>
            <a:r>
              <a:rPr sz="4600" b="1">
                <a:solidFill>
                  <a:srgbClr val="003E54"/>
                </a:solidFill>
                <a:latin typeface="Inter"/>
              </a:rPr>
              <a:t>5 TB</a:t>
            </a:r>
          </a:p>
        </p:txBody>
      </p:sp>
      <p:sp>
        <p:nvSpPr>
          <p:cNvPr id="15" name="TextBox 14"/>
          <p:cNvSpPr txBox="1"/>
          <p:nvPr/>
        </p:nvSpPr>
        <p:spPr>
          <a:xfrm>
            <a:off x="12664440" y="4023360"/>
            <a:ext cx="4663440" cy="640080"/>
          </a:xfrm>
          <a:prstGeom prst="rect">
            <a:avLst/>
          </a:prstGeom>
          <a:noFill/>
        </p:spPr>
        <p:txBody>
          <a:bodyPr wrap="square" anchor="t" lIns="0" rIns="0" tIns="0" bIns="0">
            <a:spAutoFit/>
          </a:bodyPr>
          <a:lstStyle/>
          <a:p>
            <a:pPr algn="l">
              <a:spcAft>
                <a:spcPts val="300"/>
              </a:spcAft>
            </a:pPr>
            <a:r>
              <a:rPr sz="1800" b="0">
                <a:solidFill>
                  <a:srgbClr val="667085"/>
                </a:solidFill>
                <a:latin typeface="Inter"/>
              </a:rPr>
              <a:t>dữ liệu hệ thống</a:t>
            </a:r>
          </a:p>
        </p:txBody>
      </p:sp>
      <p:sp>
        <p:nvSpPr>
          <p:cNvPr id="16" name="TextBox 15"/>
          <p:cNvSpPr txBox="1"/>
          <p:nvPr/>
        </p:nvSpPr>
        <p:spPr>
          <a:xfrm>
            <a:off x="914400" y="5074920"/>
            <a:ext cx="16459200" cy="548640"/>
          </a:xfrm>
          <a:prstGeom prst="rect">
            <a:avLst/>
          </a:prstGeom>
          <a:noFill/>
        </p:spPr>
        <p:txBody>
          <a:bodyPr wrap="square" anchor="t" lIns="0" rIns="0" tIns="0" bIns="0">
            <a:spAutoFit/>
          </a:bodyPr>
          <a:lstStyle/>
          <a:p>
            <a:pPr algn="l">
              <a:spcAft>
                <a:spcPts val="300"/>
              </a:spcAft>
            </a:pPr>
            <a:r>
              <a:rPr sz="1500" b="1">
                <a:solidFill>
                  <a:srgbClr val="0090B3"/>
                </a:solidFill>
                <a:latin typeface="Inter"/>
              </a:rPr>
              <a:t>TÀI NGUYÊN ĐỀ XUẤT</a:t>
            </a:r>
          </a:p>
        </p:txBody>
      </p:sp>
      <p:sp>
        <p:nvSpPr>
          <p:cNvPr id="17" name="Rounded Rectangle 16"/>
          <p:cNvSpPr/>
          <p:nvPr/>
        </p:nvSpPr>
        <p:spPr>
          <a:xfrm>
            <a:off x="914400" y="5623560"/>
            <a:ext cx="4023360" cy="137160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2800" b="1">
                <a:solidFill>
                  <a:srgbClr val="003E54"/>
                </a:solidFill>
                <a:latin typeface="Inter"/>
              </a:rPr>
              <a:t>311</a:t>
            </a:r>
          </a:p>
          <a:p>
            <a:pPr algn="ctr">
              <a:spcAft>
                <a:spcPts val="300"/>
              </a:spcAft>
            </a:pPr>
            <a:r>
              <a:rPr sz="1500" b="0">
                <a:solidFill>
                  <a:srgbClr val="667085"/>
                </a:solidFill>
                <a:latin typeface="Inter"/>
              </a:rPr>
              <a:t>vCPU</a:t>
            </a:r>
          </a:p>
        </p:txBody>
      </p:sp>
      <p:sp>
        <p:nvSpPr>
          <p:cNvPr id="18" name="Rounded Rectangle 17"/>
          <p:cNvSpPr/>
          <p:nvPr/>
        </p:nvSpPr>
        <p:spPr>
          <a:xfrm>
            <a:off x="5056632" y="5623560"/>
            <a:ext cx="4023360" cy="137160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2800" b="1">
                <a:solidFill>
                  <a:srgbClr val="003E54"/>
                </a:solidFill>
                <a:latin typeface="Inter"/>
              </a:rPr>
              <a:t>964 GB</a:t>
            </a:r>
          </a:p>
          <a:p>
            <a:pPr algn="ctr">
              <a:spcAft>
                <a:spcPts val="300"/>
              </a:spcAft>
            </a:pPr>
            <a:r>
              <a:rPr sz="1500" b="0">
                <a:solidFill>
                  <a:srgbClr val="667085"/>
                </a:solidFill>
                <a:latin typeface="Inter"/>
              </a:rPr>
              <a:t>RAM</a:t>
            </a:r>
          </a:p>
        </p:txBody>
      </p:sp>
      <p:sp>
        <p:nvSpPr>
          <p:cNvPr id="19" name="Rounded Rectangle 18"/>
          <p:cNvSpPr/>
          <p:nvPr/>
        </p:nvSpPr>
        <p:spPr>
          <a:xfrm>
            <a:off x="9198864" y="5623560"/>
            <a:ext cx="4023360" cy="137160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2800" b="1">
                <a:solidFill>
                  <a:srgbClr val="003E54"/>
                </a:solidFill>
                <a:latin typeface="Inter"/>
              </a:rPr>
              <a:t>17.200 GB</a:t>
            </a:r>
          </a:p>
          <a:p>
            <a:pPr algn="ctr">
              <a:spcAft>
                <a:spcPts val="300"/>
              </a:spcAft>
            </a:pPr>
            <a:r>
              <a:rPr sz="1500" b="0">
                <a:solidFill>
                  <a:srgbClr val="667085"/>
                </a:solidFill>
                <a:latin typeface="Inter"/>
              </a:rPr>
              <a:t>Lưu trữ</a:t>
            </a:r>
          </a:p>
        </p:txBody>
      </p:sp>
      <p:sp>
        <p:nvSpPr>
          <p:cNvPr id="20" name="Rounded Rectangle 19"/>
          <p:cNvSpPr/>
          <p:nvPr/>
        </p:nvSpPr>
        <p:spPr>
          <a:xfrm>
            <a:off x="13341096" y="5623560"/>
            <a:ext cx="4023360" cy="1371600"/>
          </a:xfrm>
          <a:prstGeom prst="roundRect">
            <a:avLst>
              <a:gd name="adj" fmla="val 6000"/>
            </a:avLst>
          </a:prstGeom>
          <a:solidFill>
            <a:srgbClr val="F2F4F7"/>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200"/>
              </a:spcAft>
            </a:pPr>
            <a:r>
              <a:rPr sz="2800" b="1">
                <a:solidFill>
                  <a:srgbClr val="003E54"/>
                </a:solidFill>
                <a:latin typeface="Inter"/>
              </a:rPr>
              <a:t>27</a:t>
            </a:r>
          </a:p>
          <a:p>
            <a:pPr algn="ctr">
              <a:spcAft>
                <a:spcPts val="300"/>
              </a:spcAft>
            </a:pPr>
            <a:r>
              <a:rPr sz="1500" b="0">
                <a:solidFill>
                  <a:srgbClr val="667085"/>
                </a:solidFill>
                <a:latin typeface="Inter"/>
              </a:rPr>
              <a:t>Máy ảo</a:t>
            </a:r>
          </a:p>
        </p:txBody>
      </p:sp>
      <p:sp>
        <p:nvSpPr>
          <p:cNvPr id="21" name="Rounded Rectangle 20"/>
          <p:cNvSpPr/>
          <p:nvPr/>
        </p:nvSpPr>
        <p:spPr>
          <a:xfrm>
            <a:off x="914400" y="7269480"/>
            <a:ext cx="16459200" cy="914400"/>
          </a:xfrm>
          <a:prstGeom prst="roundRect">
            <a:avLst>
              <a:gd name="adj" fmla="val 6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800" b="1">
                <a:solidFill>
                  <a:srgbClr val="FFFFFF"/>
                </a:solidFill>
                <a:latin typeface="Inter"/>
              </a:rPr>
              <a:t>Tuân thủ:  NĐ 53/2022  ·  NĐ 13/2023  ·  An toàn thông tin cấp độ 3  ·  Có dư cho dự phòng &amp; mở rộng</a:t>
            </a:r>
          </a:p>
        </p:txBody>
      </p:sp>
      <p:sp>
        <p:nvSpPr>
          <p:cNvPr id="22" name="TextBox 21"/>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3" name="TextBox 22"/>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834640"/>
            <a:ext cx="1280160" cy="146304"/>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108960"/>
            <a:ext cx="14630400" cy="1828800"/>
          </a:xfrm>
          <a:prstGeom prst="rect">
            <a:avLst/>
          </a:prstGeom>
          <a:noFill/>
        </p:spPr>
        <p:txBody>
          <a:bodyPr wrap="square" anchor="t" lIns="0" rIns="0" tIns="0" bIns="0">
            <a:spAutoFit/>
          </a:bodyPr>
          <a:lstStyle/>
          <a:p>
            <a:pPr algn="l">
              <a:spcAft>
                <a:spcPts val="300"/>
              </a:spcAft>
            </a:pPr>
            <a:r>
              <a:rPr sz="13000" b="1">
                <a:solidFill>
                  <a:srgbClr val="0090B3"/>
                </a:solidFill>
                <a:latin typeface="Inter"/>
              </a:rPr>
              <a:t>04</a:t>
            </a:r>
          </a:p>
        </p:txBody>
      </p:sp>
      <p:sp>
        <p:nvSpPr>
          <p:cNvPr id="5" name="TextBox 4"/>
          <p:cNvSpPr txBox="1"/>
          <p:nvPr/>
        </p:nvSpPr>
        <p:spPr>
          <a:xfrm>
            <a:off x="1417320" y="5486400"/>
            <a:ext cx="15544800" cy="1097280"/>
          </a:xfrm>
          <a:prstGeom prst="rect">
            <a:avLst/>
          </a:prstGeom>
          <a:noFill/>
        </p:spPr>
        <p:txBody>
          <a:bodyPr wrap="square" anchor="t" lIns="0" rIns="0" tIns="0" bIns="0">
            <a:spAutoFit/>
          </a:bodyPr>
          <a:lstStyle/>
          <a:p>
            <a:pPr algn="l">
              <a:spcAft>
                <a:spcPts val="300"/>
              </a:spcAft>
            </a:pPr>
            <a:r>
              <a:rPr sz="5000" b="1">
                <a:solidFill>
                  <a:srgbClr val="FFFFFF"/>
                </a:solidFill>
                <a:latin typeface="Inter"/>
              </a:rPr>
              <a:t>Triển khai &amp; nhân sự</a:t>
            </a:r>
          </a:p>
        </p:txBody>
      </p:sp>
      <p:sp>
        <p:nvSpPr>
          <p:cNvPr id="6" name="TextBox 5"/>
          <p:cNvSpPr txBox="1"/>
          <p:nvPr/>
        </p:nvSpPr>
        <p:spPr>
          <a:xfrm>
            <a:off x="1417320" y="6492240"/>
            <a:ext cx="15544800" cy="731520"/>
          </a:xfrm>
          <a:prstGeom prst="rect">
            <a:avLst/>
          </a:prstGeom>
          <a:noFill/>
        </p:spPr>
        <p:txBody>
          <a:bodyPr wrap="square" anchor="t" lIns="0" rIns="0" tIns="0" bIns="0">
            <a:spAutoFit/>
          </a:bodyPr>
          <a:lstStyle/>
          <a:p>
            <a:pPr algn="l">
              <a:spcAft>
                <a:spcPts val="300"/>
              </a:spcAft>
            </a:pPr>
            <a:r>
              <a:rPr sz="2400" b="0">
                <a:solidFill>
                  <a:srgbClr val="9FC6D4"/>
                </a:solidFill>
                <a:latin typeface="Inter"/>
              </a:rPr>
              <a:t>Implementation &amp; organization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04 · TRIỂN KHAI</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Kế hoạch triển khai · 6 tháng (T6–T11/2026)</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1234440"/>
            <a:ext cx="6126480" cy="822960"/>
          </a:xfrm>
          <a:prstGeom prst="rect">
            <a:avLst/>
          </a:prstGeom>
          <a:noFill/>
        </p:spPr>
        <p:txBody>
          <a:bodyPr wrap="square" anchor="t" lIns="0" rIns="0" tIns="0" bIns="0">
            <a:spAutoFit/>
          </a:bodyPr>
          <a:lstStyle/>
          <a:p>
            <a:pPr algn="r">
              <a:lnSpc>
                <a:spcPct val="105000"/>
              </a:lnSpc>
              <a:spcAft>
                <a:spcPts val="300"/>
              </a:spcAft>
            </a:pPr>
            <a:r>
              <a:rPr sz="1300" b="0">
                <a:solidFill>
                  <a:srgbClr val="667085"/>
                </a:solidFill>
                <a:latin typeface="Inter"/>
              </a:rPr>
              <a:t>Triển khai gọn trong 6 tháng, go-live T11/2026 · vận hành 5 năm sau đó</a:t>
            </a:r>
          </a:p>
        </p:txBody>
      </p:sp>
      <p:sp>
        <p:nvSpPr>
          <p:cNvPr id="7" name="Rectangle 6"/>
          <p:cNvSpPr/>
          <p:nvPr/>
        </p:nvSpPr>
        <p:spPr>
          <a:xfrm>
            <a:off x="914400" y="2377440"/>
            <a:ext cx="5120640" cy="4572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54864" bIns="54864"/>
          <a:lstStyle/>
          <a:p>
            <a:pPr algn="l">
              <a:spcAft>
                <a:spcPts val="300"/>
              </a:spcAft>
            </a:pPr>
            <a:r>
              <a:rPr sz="1300" b="1">
                <a:solidFill>
                  <a:srgbClr val="FFFFFF"/>
                </a:solidFill>
                <a:latin typeface="Inter"/>
              </a:rPr>
              <a:t>Hạng mục công việc</a:t>
            </a:r>
          </a:p>
        </p:txBody>
      </p:sp>
      <p:sp>
        <p:nvSpPr>
          <p:cNvPr id="8" name="Rectangle 7"/>
          <p:cNvSpPr/>
          <p:nvPr/>
        </p:nvSpPr>
        <p:spPr>
          <a:xfrm>
            <a:off x="6035040"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T6/26</a:t>
            </a:r>
          </a:p>
        </p:txBody>
      </p:sp>
      <p:sp>
        <p:nvSpPr>
          <p:cNvPr id="9" name="Rectangle 8"/>
          <p:cNvSpPr/>
          <p:nvPr/>
        </p:nvSpPr>
        <p:spPr>
          <a:xfrm>
            <a:off x="7924799"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T7/26</a:t>
            </a:r>
          </a:p>
        </p:txBody>
      </p:sp>
      <p:sp>
        <p:nvSpPr>
          <p:cNvPr id="10" name="Rectangle 9"/>
          <p:cNvSpPr/>
          <p:nvPr/>
        </p:nvSpPr>
        <p:spPr>
          <a:xfrm>
            <a:off x="9814560"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T8/26</a:t>
            </a:r>
          </a:p>
        </p:txBody>
      </p:sp>
      <p:sp>
        <p:nvSpPr>
          <p:cNvPr id="11" name="Rectangle 10"/>
          <p:cNvSpPr/>
          <p:nvPr/>
        </p:nvSpPr>
        <p:spPr>
          <a:xfrm>
            <a:off x="11704320"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T9/26</a:t>
            </a:r>
          </a:p>
        </p:txBody>
      </p:sp>
      <p:sp>
        <p:nvSpPr>
          <p:cNvPr id="12" name="Rectangle 11"/>
          <p:cNvSpPr/>
          <p:nvPr/>
        </p:nvSpPr>
        <p:spPr>
          <a:xfrm>
            <a:off x="13594080"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T10/26</a:t>
            </a:r>
          </a:p>
        </p:txBody>
      </p:sp>
      <p:sp>
        <p:nvSpPr>
          <p:cNvPr id="13" name="Rectangle 12"/>
          <p:cNvSpPr/>
          <p:nvPr/>
        </p:nvSpPr>
        <p:spPr>
          <a:xfrm>
            <a:off x="15483840" y="2377440"/>
            <a:ext cx="1889760" cy="457200"/>
          </a:xfrm>
          <a:prstGeom prst="rect">
            <a:avLst/>
          </a:prstGeom>
          <a:solidFill>
            <a:srgbClr val="003E5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200" b="1">
                <a:solidFill>
                  <a:srgbClr val="FFFFFF"/>
                </a:solidFill>
                <a:latin typeface="Inter"/>
              </a:rPr>
              <a:t>T11/26</a:t>
            </a:r>
          </a:p>
        </p:txBody>
      </p:sp>
      <p:sp>
        <p:nvSpPr>
          <p:cNvPr id="14" name="Rectangle 13"/>
          <p:cNvSpPr/>
          <p:nvPr/>
        </p:nvSpPr>
        <p:spPr>
          <a:xfrm>
            <a:off x="603504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99"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81456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0432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59408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548384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7373600" y="2834640"/>
            <a:ext cx="10972" cy="548640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2834640"/>
            <a:ext cx="16459200" cy="365760"/>
          </a:xfrm>
          <a:prstGeom prst="rect">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2834640"/>
            <a:ext cx="16184880" cy="365760"/>
          </a:xfrm>
          <a:prstGeom prst="rect">
            <a:avLst/>
          </a:prstGeom>
          <a:noFill/>
        </p:spPr>
        <p:txBody>
          <a:bodyPr wrap="square" anchor="ctr" lIns="0" rIns="0" tIns="0" bIns="0">
            <a:spAutoFit/>
          </a:bodyPr>
          <a:lstStyle/>
          <a:p>
            <a:pPr algn="l">
              <a:spcAft>
                <a:spcPts val="300"/>
              </a:spcAft>
            </a:pPr>
            <a:r>
              <a:rPr sz="1300" b="1">
                <a:solidFill>
                  <a:srgbClr val="003E54"/>
                </a:solidFill>
                <a:latin typeface="Inter"/>
              </a:rPr>
              <a:t>Khảo sát &amp; phân tích</a:t>
            </a:r>
          </a:p>
        </p:txBody>
      </p:sp>
      <p:sp>
        <p:nvSpPr>
          <p:cNvPr id="23" name="Rectangle 22"/>
          <p:cNvSpPr/>
          <p:nvPr/>
        </p:nvSpPr>
        <p:spPr>
          <a:xfrm>
            <a:off x="914400" y="320040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20040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Khảo sát nghiệp vụ &amp; quy trình</a:t>
            </a:r>
          </a:p>
        </p:txBody>
      </p:sp>
      <p:sp>
        <p:nvSpPr>
          <p:cNvPr id="25" name="Rounded Rectangle 24"/>
          <p:cNvSpPr/>
          <p:nvPr/>
        </p:nvSpPr>
        <p:spPr>
          <a:xfrm>
            <a:off x="6099048" y="3255264"/>
            <a:ext cx="176174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26" name="Rectangle 25"/>
          <p:cNvSpPr/>
          <p:nvPr/>
        </p:nvSpPr>
        <p:spPr>
          <a:xfrm>
            <a:off x="914400" y="356616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356616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Yêu cầu tích hợp &amp; giao diện</a:t>
            </a:r>
          </a:p>
        </p:txBody>
      </p:sp>
      <p:sp>
        <p:nvSpPr>
          <p:cNvPr id="28" name="Rounded Rectangle 27"/>
          <p:cNvSpPr/>
          <p:nvPr/>
        </p:nvSpPr>
        <p:spPr>
          <a:xfrm>
            <a:off x="6099048" y="3621024"/>
            <a:ext cx="365150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29" name="Rectangle 28"/>
          <p:cNvSpPr/>
          <p:nvPr/>
        </p:nvSpPr>
        <p:spPr>
          <a:xfrm>
            <a:off x="914400" y="3931920"/>
            <a:ext cx="16459200" cy="365760"/>
          </a:xfrm>
          <a:prstGeom prst="rect">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3931920"/>
            <a:ext cx="16184880" cy="365760"/>
          </a:xfrm>
          <a:prstGeom prst="rect">
            <a:avLst/>
          </a:prstGeom>
          <a:noFill/>
        </p:spPr>
        <p:txBody>
          <a:bodyPr wrap="square" anchor="ctr" lIns="0" rIns="0" tIns="0" bIns="0">
            <a:spAutoFit/>
          </a:bodyPr>
          <a:lstStyle/>
          <a:p>
            <a:pPr algn="l">
              <a:spcAft>
                <a:spcPts val="300"/>
              </a:spcAft>
            </a:pPr>
            <a:r>
              <a:rPr sz="1300" b="1">
                <a:solidFill>
                  <a:srgbClr val="003E54"/>
                </a:solidFill>
                <a:latin typeface="Inter"/>
              </a:rPr>
              <a:t>Phát triển &amp; tích hợp</a:t>
            </a:r>
          </a:p>
        </p:txBody>
      </p:sp>
      <p:sp>
        <p:nvSpPr>
          <p:cNvPr id="31" name="Rectangle 30"/>
          <p:cNvSpPr/>
          <p:nvPr/>
        </p:nvSpPr>
        <p:spPr>
          <a:xfrm>
            <a:off x="914400" y="429768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29768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Hạ tầng &amp; nền tảng</a:t>
            </a:r>
          </a:p>
        </p:txBody>
      </p:sp>
      <p:sp>
        <p:nvSpPr>
          <p:cNvPr id="33" name="Rounded Rectangle 32"/>
          <p:cNvSpPr/>
          <p:nvPr/>
        </p:nvSpPr>
        <p:spPr>
          <a:xfrm>
            <a:off x="6099048" y="4352544"/>
            <a:ext cx="3651504" cy="256032"/>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a:t>
            </a:r>
          </a:p>
        </p:txBody>
      </p:sp>
      <p:sp>
        <p:nvSpPr>
          <p:cNvPr id="34" name="Rectangle 33"/>
          <p:cNvSpPr/>
          <p:nvPr/>
        </p:nvSpPr>
        <p:spPr>
          <a:xfrm>
            <a:off x="914400" y="466344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466344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Phát triển các phân hệ lõi</a:t>
            </a:r>
          </a:p>
        </p:txBody>
      </p:sp>
      <p:sp>
        <p:nvSpPr>
          <p:cNvPr id="36" name="Rounded Rectangle 35"/>
          <p:cNvSpPr/>
          <p:nvPr/>
        </p:nvSpPr>
        <p:spPr>
          <a:xfrm>
            <a:off x="7988808" y="4718304"/>
            <a:ext cx="5541264" cy="256032"/>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a:t>
            </a:r>
          </a:p>
        </p:txBody>
      </p:sp>
      <p:sp>
        <p:nvSpPr>
          <p:cNvPr id="37" name="Rectangle 36"/>
          <p:cNvSpPr/>
          <p:nvPr/>
        </p:nvSpPr>
        <p:spPr>
          <a:xfrm>
            <a:off x="914400" y="502920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502920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Dữ liệu danh mục (master data)</a:t>
            </a:r>
          </a:p>
        </p:txBody>
      </p:sp>
      <p:sp>
        <p:nvSpPr>
          <p:cNvPr id="39" name="Rounded Rectangle 38"/>
          <p:cNvSpPr/>
          <p:nvPr/>
        </p:nvSpPr>
        <p:spPr>
          <a:xfrm>
            <a:off x="9878568" y="5084064"/>
            <a:ext cx="365150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40" name="Rectangle 39"/>
          <p:cNvSpPr/>
          <p:nvPr/>
        </p:nvSpPr>
        <p:spPr>
          <a:xfrm>
            <a:off x="914400" y="539496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39496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Tích hợp &amp; kiểm thử giao diện</a:t>
            </a:r>
          </a:p>
        </p:txBody>
      </p:sp>
      <p:sp>
        <p:nvSpPr>
          <p:cNvPr id="42" name="Rounded Rectangle 41"/>
          <p:cNvSpPr/>
          <p:nvPr/>
        </p:nvSpPr>
        <p:spPr>
          <a:xfrm>
            <a:off x="9878568" y="5449824"/>
            <a:ext cx="365150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43" name="Rectangle 42"/>
          <p:cNvSpPr/>
          <p:nvPr/>
        </p:nvSpPr>
        <p:spPr>
          <a:xfrm>
            <a:off x="914400" y="5760720"/>
            <a:ext cx="16459200" cy="365760"/>
          </a:xfrm>
          <a:prstGeom prst="rect">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760720"/>
            <a:ext cx="16184880" cy="365760"/>
          </a:xfrm>
          <a:prstGeom prst="rect">
            <a:avLst/>
          </a:prstGeom>
          <a:noFill/>
        </p:spPr>
        <p:txBody>
          <a:bodyPr wrap="square" anchor="ctr" lIns="0" rIns="0" tIns="0" bIns="0">
            <a:spAutoFit/>
          </a:bodyPr>
          <a:lstStyle/>
          <a:p>
            <a:pPr algn="l">
              <a:spcAft>
                <a:spcPts val="300"/>
              </a:spcAft>
            </a:pPr>
            <a:r>
              <a:rPr sz="1300" b="1">
                <a:solidFill>
                  <a:srgbClr val="003E54"/>
                </a:solidFill>
                <a:latin typeface="Inter"/>
              </a:rPr>
              <a:t>Đào tạo &amp; nghiệm thu</a:t>
            </a:r>
          </a:p>
        </p:txBody>
      </p:sp>
      <p:sp>
        <p:nvSpPr>
          <p:cNvPr id="45" name="Rectangle 44"/>
          <p:cNvSpPr/>
          <p:nvPr/>
        </p:nvSpPr>
        <p:spPr>
          <a:xfrm>
            <a:off x="914400" y="612648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 y="612648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Đào tạo người dùng chính (key users)</a:t>
            </a:r>
          </a:p>
        </p:txBody>
      </p:sp>
      <p:sp>
        <p:nvSpPr>
          <p:cNvPr id="47" name="Rounded Rectangle 46"/>
          <p:cNvSpPr/>
          <p:nvPr/>
        </p:nvSpPr>
        <p:spPr>
          <a:xfrm>
            <a:off x="11768328" y="6181344"/>
            <a:ext cx="1761744" cy="256032"/>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a:t>
            </a:r>
          </a:p>
        </p:txBody>
      </p:sp>
      <p:sp>
        <p:nvSpPr>
          <p:cNvPr id="48" name="Rectangle 47"/>
          <p:cNvSpPr/>
          <p:nvPr/>
        </p:nvSpPr>
        <p:spPr>
          <a:xfrm>
            <a:off x="914400" y="649224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649224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Kiểm thử nghiệm thu (UAT)</a:t>
            </a:r>
          </a:p>
        </p:txBody>
      </p:sp>
      <p:sp>
        <p:nvSpPr>
          <p:cNvPr id="50" name="Rounded Rectangle 49"/>
          <p:cNvSpPr/>
          <p:nvPr/>
        </p:nvSpPr>
        <p:spPr>
          <a:xfrm>
            <a:off x="13658088" y="6547104"/>
            <a:ext cx="1761744" cy="256032"/>
          </a:xfrm>
          <a:prstGeom prst="round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VNA</a:t>
            </a:r>
          </a:p>
        </p:txBody>
      </p:sp>
      <p:sp>
        <p:nvSpPr>
          <p:cNvPr id="51" name="Rectangle 50"/>
          <p:cNvSpPr/>
          <p:nvPr/>
        </p:nvSpPr>
        <p:spPr>
          <a:xfrm>
            <a:off x="914400" y="685800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51560" y="685800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Đào tạo người dùng cuối</a:t>
            </a:r>
          </a:p>
        </p:txBody>
      </p:sp>
      <p:sp>
        <p:nvSpPr>
          <p:cNvPr id="53" name="Rounded Rectangle 52"/>
          <p:cNvSpPr/>
          <p:nvPr/>
        </p:nvSpPr>
        <p:spPr>
          <a:xfrm>
            <a:off x="13658088" y="6912864"/>
            <a:ext cx="176174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54" name="Rectangle 53"/>
          <p:cNvSpPr/>
          <p:nvPr/>
        </p:nvSpPr>
        <p:spPr>
          <a:xfrm>
            <a:off x="914400" y="7223760"/>
            <a:ext cx="16459200" cy="365760"/>
          </a:xfrm>
          <a:prstGeom prst="rect">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560" y="7223760"/>
            <a:ext cx="16184880" cy="365760"/>
          </a:xfrm>
          <a:prstGeom prst="rect">
            <a:avLst/>
          </a:prstGeom>
          <a:noFill/>
        </p:spPr>
        <p:txBody>
          <a:bodyPr wrap="square" anchor="ctr" lIns="0" rIns="0" tIns="0" bIns="0">
            <a:spAutoFit/>
          </a:bodyPr>
          <a:lstStyle/>
          <a:p>
            <a:pPr algn="l">
              <a:spcAft>
                <a:spcPts val="300"/>
              </a:spcAft>
            </a:pPr>
            <a:r>
              <a:rPr sz="1300" b="1">
                <a:solidFill>
                  <a:srgbClr val="003E54"/>
                </a:solidFill>
                <a:latin typeface="Inter"/>
              </a:rPr>
              <a:t>Go-live &amp; ổn định</a:t>
            </a:r>
          </a:p>
        </p:txBody>
      </p:sp>
      <p:sp>
        <p:nvSpPr>
          <p:cNvPr id="56" name="Rectangle 55"/>
          <p:cNvSpPr/>
          <p:nvPr/>
        </p:nvSpPr>
        <p:spPr>
          <a:xfrm>
            <a:off x="914400" y="758952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758952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Chuyển giao vận hành (Go-live)</a:t>
            </a:r>
          </a:p>
        </p:txBody>
      </p:sp>
      <p:sp>
        <p:nvSpPr>
          <p:cNvPr id="58" name="Rounded Rectangle 57"/>
          <p:cNvSpPr/>
          <p:nvPr/>
        </p:nvSpPr>
        <p:spPr>
          <a:xfrm>
            <a:off x="15547848" y="7644384"/>
            <a:ext cx="176174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59" name="Rectangle 58"/>
          <p:cNvSpPr/>
          <p:nvPr/>
        </p:nvSpPr>
        <p:spPr>
          <a:xfrm>
            <a:off x="914400" y="7955280"/>
            <a:ext cx="5120640" cy="365760"/>
          </a:xfrm>
          <a:prstGeom prst="rect">
            <a:avLst/>
          </a:prstGeom>
          <a:solidFill>
            <a:srgbClr val="FFFFFF"/>
          </a:solidFill>
          <a:ln w="635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1560" y="7955280"/>
            <a:ext cx="4846320" cy="365760"/>
          </a:xfrm>
          <a:prstGeom prst="rect">
            <a:avLst/>
          </a:prstGeom>
          <a:noFill/>
        </p:spPr>
        <p:txBody>
          <a:bodyPr wrap="square" anchor="ctr" lIns="0" rIns="0" tIns="0" bIns="0">
            <a:spAutoFit/>
          </a:bodyPr>
          <a:lstStyle/>
          <a:p>
            <a:pPr algn="l">
              <a:spcAft>
                <a:spcPts val="300"/>
              </a:spcAft>
            </a:pPr>
            <a:r>
              <a:rPr sz="1200" b="0">
                <a:solidFill>
                  <a:srgbClr val="344054"/>
                </a:solidFill>
                <a:latin typeface="Inter"/>
              </a:rPr>
              <a:t>Ổn định hệ thống</a:t>
            </a:r>
          </a:p>
        </p:txBody>
      </p:sp>
      <p:sp>
        <p:nvSpPr>
          <p:cNvPr id="61" name="Rounded Rectangle 60"/>
          <p:cNvSpPr/>
          <p:nvPr/>
        </p:nvSpPr>
        <p:spPr>
          <a:xfrm>
            <a:off x="15547848" y="8010144"/>
            <a:ext cx="1761744"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000" b="1">
                <a:solidFill>
                  <a:srgbClr val="FFFFFF"/>
                </a:solidFill>
                <a:latin typeface="Inter"/>
              </a:rPr>
              <a:t>VTIT &amp; VNA</a:t>
            </a:r>
          </a:p>
        </p:txBody>
      </p:sp>
      <p:sp>
        <p:nvSpPr>
          <p:cNvPr id="62" name="Rounded Rectangle 61"/>
          <p:cNvSpPr/>
          <p:nvPr/>
        </p:nvSpPr>
        <p:spPr>
          <a:xfrm>
            <a:off x="914400" y="8522208"/>
            <a:ext cx="384048" cy="256032"/>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89888" y="8458200"/>
            <a:ext cx="2377440" cy="384048"/>
          </a:xfrm>
          <a:prstGeom prst="rect">
            <a:avLst/>
          </a:prstGeom>
          <a:noFill/>
        </p:spPr>
        <p:txBody>
          <a:bodyPr wrap="square" anchor="ctr" lIns="0" rIns="0" tIns="0" bIns="0">
            <a:spAutoFit/>
          </a:bodyPr>
          <a:lstStyle/>
          <a:p>
            <a:pPr algn="l">
              <a:spcAft>
                <a:spcPts val="300"/>
              </a:spcAft>
            </a:pPr>
            <a:r>
              <a:rPr sz="1300" b="0">
                <a:solidFill>
                  <a:srgbClr val="344054"/>
                </a:solidFill>
                <a:latin typeface="Inter"/>
              </a:rPr>
              <a:t>VTIT</a:t>
            </a:r>
          </a:p>
        </p:txBody>
      </p:sp>
      <p:sp>
        <p:nvSpPr>
          <p:cNvPr id="64" name="Rounded Rectangle 63"/>
          <p:cNvSpPr/>
          <p:nvPr/>
        </p:nvSpPr>
        <p:spPr>
          <a:xfrm>
            <a:off x="3657600" y="8522208"/>
            <a:ext cx="384048" cy="256032"/>
          </a:xfrm>
          <a:prstGeom prst="round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33087" y="8458200"/>
            <a:ext cx="2377440" cy="384048"/>
          </a:xfrm>
          <a:prstGeom prst="rect">
            <a:avLst/>
          </a:prstGeom>
          <a:noFill/>
        </p:spPr>
        <p:txBody>
          <a:bodyPr wrap="square" anchor="ctr" lIns="0" rIns="0" tIns="0" bIns="0">
            <a:spAutoFit/>
          </a:bodyPr>
          <a:lstStyle/>
          <a:p>
            <a:pPr algn="l">
              <a:spcAft>
                <a:spcPts val="300"/>
              </a:spcAft>
            </a:pPr>
            <a:r>
              <a:rPr sz="1300" b="0">
                <a:solidFill>
                  <a:srgbClr val="344054"/>
                </a:solidFill>
                <a:latin typeface="Inter"/>
              </a:rPr>
              <a:t>VNA</a:t>
            </a:r>
          </a:p>
        </p:txBody>
      </p:sp>
      <p:sp>
        <p:nvSpPr>
          <p:cNvPr id="66" name="Rounded Rectangle 65"/>
          <p:cNvSpPr/>
          <p:nvPr/>
        </p:nvSpPr>
        <p:spPr>
          <a:xfrm>
            <a:off x="6400800" y="8522208"/>
            <a:ext cx="384048" cy="256032"/>
          </a:xfrm>
          <a:prstGeom prst="roundRect">
            <a:avLst/>
          </a:prstGeom>
          <a:solidFill>
            <a:srgbClr val="E89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76288" y="8458200"/>
            <a:ext cx="2377440" cy="384048"/>
          </a:xfrm>
          <a:prstGeom prst="rect">
            <a:avLst/>
          </a:prstGeom>
          <a:noFill/>
        </p:spPr>
        <p:txBody>
          <a:bodyPr wrap="square" anchor="ctr" lIns="0" rIns="0" tIns="0" bIns="0">
            <a:spAutoFit/>
          </a:bodyPr>
          <a:lstStyle/>
          <a:p>
            <a:pPr algn="l">
              <a:spcAft>
                <a:spcPts val="300"/>
              </a:spcAft>
            </a:pPr>
            <a:r>
              <a:rPr sz="1300" b="0">
                <a:solidFill>
                  <a:srgbClr val="344054"/>
                </a:solidFill>
                <a:latin typeface="Inter"/>
              </a:rPr>
              <a:t>VTIT &amp; VNA</a:t>
            </a:r>
          </a:p>
        </p:txBody>
      </p:sp>
      <p:sp>
        <p:nvSpPr>
          <p:cNvPr id="68" name="TextBox 67"/>
          <p:cNvSpPr txBox="1"/>
          <p:nvPr/>
        </p:nvSpPr>
        <p:spPr>
          <a:xfrm>
            <a:off x="10058400" y="8458200"/>
            <a:ext cx="7315200" cy="384048"/>
          </a:xfrm>
          <a:prstGeom prst="rect">
            <a:avLst/>
          </a:prstGeom>
          <a:noFill/>
        </p:spPr>
        <p:txBody>
          <a:bodyPr wrap="square" anchor="ctr" lIns="0" rIns="0" tIns="0" bIns="0">
            <a:spAutoFit/>
          </a:bodyPr>
          <a:lstStyle/>
          <a:p>
            <a:pPr algn="r">
              <a:spcAft>
                <a:spcPts val="300"/>
              </a:spcAft>
            </a:pPr>
            <a:r>
              <a:rPr sz="1200" b="0">
                <a:solidFill>
                  <a:srgbClr val="667085"/>
                </a:solidFill>
                <a:latin typeface="Inter"/>
              </a:rPr>
              <a:t>Mốc thời gian là đề xuất — chốt lại với đội dự án</a:t>
            </a:r>
          </a:p>
        </p:txBody>
      </p:sp>
      <p:sp>
        <p:nvSpPr>
          <p:cNvPr id="69" name="TextBox 68"/>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70" name="TextBox 69"/>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05 · NHÂN SỰ</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Cơ cấu nhân sự &amp; phối hợp</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560320"/>
            <a:ext cx="786384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7" name="Rounded Rectangle 6"/>
          <p:cNvSpPr/>
          <p:nvPr/>
        </p:nvSpPr>
        <p:spPr>
          <a:xfrm>
            <a:off x="914400" y="2560320"/>
            <a:ext cx="7863840" cy="914400"/>
          </a:xfrm>
          <a:prstGeom prst="round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560320"/>
            <a:ext cx="7315200" cy="914400"/>
          </a:xfrm>
          <a:prstGeom prst="rect">
            <a:avLst/>
          </a:prstGeom>
          <a:noFill/>
        </p:spPr>
        <p:txBody>
          <a:bodyPr wrap="square" anchor="ctr" lIns="0" rIns="0" tIns="0" bIns="0">
            <a:spAutoFit/>
          </a:bodyPr>
          <a:lstStyle/>
          <a:p>
            <a:pPr algn="l">
              <a:spcAft>
                <a:spcPts val="300"/>
              </a:spcAft>
            </a:pPr>
            <a:r>
              <a:rPr sz="2100" b="1">
                <a:solidFill>
                  <a:srgbClr val="FFFFFF"/>
                </a:solidFill>
                <a:latin typeface="Inter"/>
              </a:rPr>
              <a:t>VNA / TCTHK — Chủ quản</a:t>
            </a:r>
          </a:p>
        </p:txBody>
      </p:sp>
      <p:sp>
        <p:nvSpPr>
          <p:cNvPr id="9" name="TextBox 8"/>
          <p:cNvSpPr txBox="1"/>
          <p:nvPr/>
        </p:nvSpPr>
        <p:spPr>
          <a:xfrm>
            <a:off x="1280160" y="3657600"/>
            <a:ext cx="7315200" cy="2926080"/>
          </a:xfrm>
          <a:prstGeom prst="rect">
            <a:avLst/>
          </a:prstGeom>
          <a:noFill/>
        </p:spPr>
        <p:txBody>
          <a:bodyPr wrap="square" anchor="t" lIns="0" rIns="0" tIns="0" bIns="0">
            <a:spAutoFit/>
          </a:bodyPr>
          <a:lstStyle/>
          <a:p>
            <a:pPr algn="l">
              <a:lnSpc>
                <a:spcPct val="102000"/>
              </a:lnSpc>
              <a:spcAft>
                <a:spcPts val="1200"/>
              </a:spcAft>
            </a:pPr>
            <a:r>
              <a:rPr sz="1800" b="1">
                <a:solidFill>
                  <a:srgbClr val="0090B3"/>
                </a:solidFill>
                <a:latin typeface="Inter"/>
              </a:rPr>
              <a:t>•  </a:t>
            </a:r>
            <a:r>
              <a:rPr sz="1800" b="0">
                <a:solidFill>
                  <a:srgbClr val="344054"/>
                </a:solidFill>
                <a:latin typeface="Inter"/>
              </a:rPr>
              <a:t>Yêu cầu &amp; nghiệp vụ</a:t>
            </a:r>
          </a:p>
          <a:p>
            <a:pPr algn="l">
              <a:lnSpc>
                <a:spcPct val="102000"/>
              </a:lnSpc>
              <a:spcAft>
                <a:spcPts val="1200"/>
              </a:spcAft>
            </a:pPr>
            <a:r>
              <a:rPr sz="1800" b="1">
                <a:solidFill>
                  <a:srgbClr val="0090B3"/>
                </a:solidFill>
                <a:latin typeface="Inter"/>
              </a:rPr>
              <a:t>•  </a:t>
            </a:r>
            <a:r>
              <a:rPr sz="1800" b="0">
                <a:solidFill>
                  <a:srgbClr val="344054"/>
                </a:solidFill>
                <a:latin typeface="Inter"/>
              </a:rPr>
              <a:t>Nghiệm thu (UAT)</a:t>
            </a:r>
          </a:p>
          <a:p>
            <a:pPr algn="l">
              <a:lnSpc>
                <a:spcPct val="102000"/>
              </a:lnSpc>
              <a:spcAft>
                <a:spcPts val="1200"/>
              </a:spcAft>
            </a:pPr>
            <a:r>
              <a:rPr sz="1800" b="1">
                <a:solidFill>
                  <a:srgbClr val="0090B3"/>
                </a:solidFill>
                <a:latin typeface="Inter"/>
              </a:rPr>
              <a:t>•  </a:t>
            </a:r>
            <a:r>
              <a:rPr sz="1800" b="0">
                <a:solidFill>
                  <a:srgbClr val="344054"/>
                </a:solidFill>
                <a:latin typeface="Inter"/>
              </a:rPr>
              <a:t>Duyệt thay đổi Production</a:t>
            </a:r>
          </a:p>
          <a:p>
            <a:pPr algn="l">
              <a:lnSpc>
                <a:spcPct val="102000"/>
              </a:lnSpc>
              <a:spcAft>
                <a:spcPts val="1200"/>
              </a:spcAft>
            </a:pPr>
            <a:r>
              <a:rPr sz="1800" b="1">
                <a:solidFill>
                  <a:srgbClr val="0090B3"/>
                </a:solidFill>
                <a:latin typeface="Inter"/>
              </a:rPr>
              <a:t>•  </a:t>
            </a:r>
            <a:r>
              <a:rPr sz="1800" b="0">
                <a:solidFill>
                  <a:srgbClr val="344054"/>
                </a:solidFill>
                <a:latin typeface="Inter"/>
              </a:rPr>
              <a:t>An toàn thông tin</a:t>
            </a:r>
          </a:p>
        </p:txBody>
      </p:sp>
      <p:sp>
        <p:nvSpPr>
          <p:cNvPr id="10" name="Rounded Rectangle 9"/>
          <p:cNvSpPr/>
          <p:nvPr/>
        </p:nvSpPr>
        <p:spPr>
          <a:xfrm>
            <a:off x="9509760" y="2560320"/>
            <a:ext cx="7863840" cy="420624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1" name="Rounded Rectangle 10"/>
          <p:cNvSpPr/>
          <p:nvPr/>
        </p:nvSpPr>
        <p:spPr>
          <a:xfrm>
            <a:off x="9509760" y="2560320"/>
            <a:ext cx="7863840" cy="914400"/>
          </a:xfrm>
          <a:prstGeom prst="round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2560320"/>
            <a:ext cx="7315200" cy="914400"/>
          </a:xfrm>
          <a:prstGeom prst="rect">
            <a:avLst/>
          </a:prstGeom>
          <a:noFill/>
        </p:spPr>
        <p:txBody>
          <a:bodyPr wrap="square" anchor="ctr" lIns="0" rIns="0" tIns="0" bIns="0">
            <a:spAutoFit/>
          </a:bodyPr>
          <a:lstStyle/>
          <a:p>
            <a:pPr algn="l">
              <a:spcAft>
                <a:spcPts val="300"/>
              </a:spcAft>
            </a:pPr>
            <a:r>
              <a:rPr sz="2100" b="1">
                <a:solidFill>
                  <a:srgbClr val="FFFFFF"/>
                </a:solidFill>
                <a:latin typeface="Inter"/>
              </a:rPr>
              <a:t>VTIT — Triển khai</a:t>
            </a:r>
          </a:p>
        </p:txBody>
      </p:sp>
      <p:sp>
        <p:nvSpPr>
          <p:cNvPr id="13" name="TextBox 12"/>
          <p:cNvSpPr txBox="1"/>
          <p:nvPr/>
        </p:nvSpPr>
        <p:spPr>
          <a:xfrm>
            <a:off x="9875520" y="3657600"/>
            <a:ext cx="7315200" cy="2926080"/>
          </a:xfrm>
          <a:prstGeom prst="rect">
            <a:avLst/>
          </a:prstGeom>
          <a:noFill/>
        </p:spPr>
        <p:txBody>
          <a:bodyPr wrap="square" anchor="t" lIns="0" rIns="0" tIns="0" bIns="0">
            <a:spAutoFit/>
          </a:bodyPr>
          <a:lstStyle/>
          <a:p>
            <a:pPr algn="l">
              <a:lnSpc>
                <a:spcPct val="102000"/>
              </a:lnSpc>
              <a:spcAft>
                <a:spcPts val="1200"/>
              </a:spcAft>
            </a:pPr>
            <a:r>
              <a:rPr sz="1800" b="1">
                <a:solidFill>
                  <a:srgbClr val="0090B3"/>
                </a:solidFill>
                <a:latin typeface="Inter"/>
              </a:rPr>
              <a:t>•  </a:t>
            </a:r>
            <a:r>
              <a:rPr sz="1800" b="0">
                <a:solidFill>
                  <a:srgbClr val="344054"/>
                </a:solidFill>
                <a:latin typeface="Inter"/>
              </a:rPr>
              <a:t>Kiến trúc &amp; phát triển</a:t>
            </a:r>
          </a:p>
          <a:p>
            <a:pPr algn="l">
              <a:lnSpc>
                <a:spcPct val="102000"/>
              </a:lnSpc>
              <a:spcAft>
                <a:spcPts val="1200"/>
              </a:spcAft>
            </a:pPr>
            <a:r>
              <a:rPr sz="1800" b="1">
                <a:solidFill>
                  <a:srgbClr val="0090B3"/>
                </a:solidFill>
                <a:latin typeface="Inter"/>
              </a:rPr>
              <a:t>•  </a:t>
            </a:r>
            <a:r>
              <a:rPr sz="1800" b="0">
                <a:solidFill>
                  <a:srgbClr val="344054"/>
                </a:solidFill>
                <a:latin typeface="Inter"/>
              </a:rPr>
              <a:t>DevOps &amp; bảo mật</a:t>
            </a:r>
          </a:p>
          <a:p>
            <a:pPr algn="l">
              <a:lnSpc>
                <a:spcPct val="102000"/>
              </a:lnSpc>
              <a:spcAft>
                <a:spcPts val="1200"/>
              </a:spcAft>
            </a:pPr>
            <a:r>
              <a:rPr sz="1800" b="1">
                <a:solidFill>
                  <a:srgbClr val="0090B3"/>
                </a:solidFill>
                <a:latin typeface="Inter"/>
              </a:rPr>
              <a:t>•  </a:t>
            </a:r>
            <a:r>
              <a:rPr sz="1800" b="0">
                <a:solidFill>
                  <a:srgbClr val="344054"/>
                </a:solidFill>
                <a:latin typeface="Inter"/>
              </a:rPr>
              <a:t>Vận hành 24/7</a:t>
            </a:r>
          </a:p>
          <a:p>
            <a:pPr algn="l">
              <a:lnSpc>
                <a:spcPct val="102000"/>
              </a:lnSpc>
              <a:spcAft>
                <a:spcPts val="1200"/>
              </a:spcAft>
            </a:pPr>
            <a:r>
              <a:rPr sz="1800" b="1">
                <a:solidFill>
                  <a:srgbClr val="0090B3"/>
                </a:solidFill>
                <a:latin typeface="Inter"/>
              </a:rPr>
              <a:t>•  </a:t>
            </a:r>
            <a:r>
              <a:rPr sz="1800" b="0">
                <a:solidFill>
                  <a:srgbClr val="344054"/>
                </a:solidFill>
                <a:latin typeface="Inter"/>
              </a:rPr>
              <a:t>Bàn giao &amp; đào tạo</a:t>
            </a:r>
          </a:p>
        </p:txBody>
      </p:sp>
      <p:sp>
        <p:nvSpPr>
          <p:cNvPr id="14" name="Rounded Rectangle 13"/>
          <p:cNvSpPr/>
          <p:nvPr/>
        </p:nvSpPr>
        <p:spPr>
          <a:xfrm>
            <a:off x="914400" y="6949440"/>
            <a:ext cx="16459200" cy="1188720"/>
          </a:xfrm>
          <a:prstGeom prst="roundRect">
            <a:avLst>
              <a:gd name="adj" fmla="val 6000"/>
            </a:avLst>
          </a:prstGeom>
          <a:solidFill>
            <a:srgbClr val="EA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800" b="0">
                <a:solidFill>
                  <a:srgbClr val="344054"/>
                </a:solidFill>
                <a:latin typeface="Inter"/>
              </a:rPr>
              <a:t>Phối hợp:  </a:t>
            </a:r>
            <a:r>
              <a:rPr sz="1800" b="1">
                <a:solidFill>
                  <a:srgbClr val="003E54"/>
                </a:solidFill>
                <a:latin typeface="Inter"/>
              </a:rPr>
              <a:t>hội đồng thay đổi chung  ·  review thứ Sáu hàng tuần  ·  phản hồi trong 6 giờ</a:t>
            </a:r>
          </a:p>
        </p:txBody>
      </p:sp>
      <p:sp>
        <p:nvSpPr>
          <p:cNvPr id="15" name="TextBox 14"/>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16" name="TextBox 15"/>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566928"/>
            <a:ext cx="118872" cy="45720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48640"/>
            <a:ext cx="14630400" cy="457200"/>
          </a:xfrm>
          <a:prstGeom prst="rect">
            <a:avLst/>
          </a:prstGeom>
          <a:noFill/>
        </p:spPr>
        <p:txBody>
          <a:bodyPr wrap="square" anchor="ctr" lIns="0" rIns="0" tIns="0" bIns="0">
            <a:spAutoFit/>
          </a:bodyPr>
          <a:lstStyle/>
          <a:p>
            <a:pPr algn="l">
              <a:spcAft>
                <a:spcPts val="300"/>
              </a:spcAft>
            </a:pPr>
            <a:r>
              <a:rPr sz="1600" b="1">
                <a:solidFill>
                  <a:srgbClr val="0090B3"/>
                </a:solidFill>
                <a:latin typeface="Inter"/>
              </a:rPr>
              <a:t>05 · NHÂN SỰ</a:t>
            </a:r>
          </a:p>
        </p:txBody>
      </p:sp>
      <p:sp>
        <p:nvSpPr>
          <p:cNvPr id="4" name="TextBox 3"/>
          <p:cNvSpPr txBox="1"/>
          <p:nvPr/>
        </p:nvSpPr>
        <p:spPr>
          <a:xfrm>
            <a:off x="896112" y="1024128"/>
            <a:ext cx="16459200" cy="914400"/>
          </a:xfrm>
          <a:prstGeom prst="rect">
            <a:avLst/>
          </a:prstGeom>
          <a:noFill/>
        </p:spPr>
        <p:txBody>
          <a:bodyPr wrap="square" anchor="t" lIns="0" rIns="0" tIns="0" bIns="0">
            <a:spAutoFit/>
          </a:bodyPr>
          <a:lstStyle/>
          <a:p>
            <a:pPr algn="l">
              <a:spcAft>
                <a:spcPts val="300"/>
              </a:spcAft>
            </a:pPr>
            <a:r>
              <a:rPr sz="3800" b="1">
                <a:solidFill>
                  <a:srgbClr val="344054"/>
                </a:solidFill>
                <a:latin typeface="Inter"/>
              </a:rPr>
              <a:t>Năng lực đội ngũ VTIT</a:t>
            </a:r>
          </a:p>
        </p:txBody>
      </p:sp>
      <p:sp>
        <p:nvSpPr>
          <p:cNvPr id="5" name="Rectangle 4"/>
          <p:cNvSpPr/>
          <p:nvPr/>
        </p:nvSpPr>
        <p:spPr>
          <a:xfrm>
            <a:off x="914400" y="1993392"/>
            <a:ext cx="2377440" cy="64008"/>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40280"/>
            <a:ext cx="16459200" cy="640080"/>
          </a:xfrm>
          <a:prstGeom prst="rect">
            <a:avLst/>
          </a:prstGeom>
          <a:noFill/>
        </p:spPr>
        <p:txBody>
          <a:bodyPr wrap="square" anchor="t" lIns="0" rIns="0" tIns="0" bIns="0">
            <a:spAutoFit/>
          </a:bodyPr>
          <a:lstStyle/>
          <a:p>
            <a:pPr algn="l">
              <a:spcAft>
                <a:spcPts val="300"/>
              </a:spcAft>
            </a:pPr>
            <a:r>
              <a:rPr sz="2000" b="1">
                <a:solidFill>
                  <a:srgbClr val="0090B3"/>
                </a:solidFill>
                <a:latin typeface="Inter"/>
              </a:rPr>
              <a:t>Đội ngũ chuyên gia công nghệ với kinh nghiệm thực tế trong lĩnh vực hàng không</a:t>
            </a:r>
          </a:p>
        </p:txBody>
      </p:sp>
      <p:sp>
        <p:nvSpPr>
          <p:cNvPr id="7" name="Rounded Rectangle 6"/>
          <p:cNvSpPr/>
          <p:nvPr/>
        </p:nvSpPr>
        <p:spPr>
          <a:xfrm>
            <a:off x="914400" y="3063240"/>
            <a:ext cx="7955279" cy="23317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8" name="Rectangle 7"/>
          <p:cNvSpPr/>
          <p:nvPr/>
        </p:nvSpPr>
        <p:spPr>
          <a:xfrm>
            <a:off x="914400" y="3063240"/>
            <a:ext cx="164592" cy="233172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3319272"/>
            <a:ext cx="7223759" cy="640080"/>
          </a:xfrm>
          <a:prstGeom prst="rect">
            <a:avLst/>
          </a:prstGeom>
          <a:noFill/>
        </p:spPr>
        <p:txBody>
          <a:bodyPr wrap="square" anchor="t" lIns="0" rIns="0" tIns="0" bIns="0">
            <a:spAutoFit/>
          </a:bodyPr>
          <a:lstStyle/>
          <a:p>
            <a:pPr algn="l">
              <a:spcAft>
                <a:spcPts val="300"/>
              </a:spcAft>
            </a:pPr>
            <a:r>
              <a:rPr sz="1900" b="1">
                <a:solidFill>
                  <a:srgbClr val="003E54"/>
                </a:solidFill>
                <a:latin typeface="Inter"/>
              </a:rPr>
              <a:t>Kinh nghiệm hàng không</a:t>
            </a:r>
          </a:p>
        </p:txBody>
      </p:sp>
      <p:sp>
        <p:nvSpPr>
          <p:cNvPr id="10" name="TextBox 9"/>
          <p:cNvSpPr txBox="1"/>
          <p:nvPr/>
        </p:nvSpPr>
        <p:spPr>
          <a:xfrm>
            <a:off x="1325880" y="4023360"/>
            <a:ext cx="7178040" cy="1234439"/>
          </a:xfrm>
          <a:prstGeom prst="rect">
            <a:avLst/>
          </a:prstGeom>
          <a:noFill/>
        </p:spPr>
        <p:txBody>
          <a:bodyPr wrap="square" anchor="t" lIns="0" rIns="0" tIns="0" bIns="0">
            <a:spAutoFit/>
          </a:bodyPr>
          <a:lstStyle/>
          <a:p>
            <a:pPr algn="l">
              <a:lnSpc>
                <a:spcPct val="112000"/>
              </a:lnSpc>
              <a:spcAft>
                <a:spcPts val="300"/>
              </a:spcAft>
            </a:pPr>
            <a:r>
              <a:rPr sz="1600" b="0">
                <a:solidFill>
                  <a:srgbClr val="667085"/>
                </a:solidFill>
                <a:latin typeface="Inter"/>
              </a:rPr>
              <a:t>Đã triển khai hệ thống cho lĩnh vực hàng không, điều hành khai thác (OCC): {{liệt kê dự án/hệ thống cụ thể}}</a:t>
            </a:r>
          </a:p>
        </p:txBody>
      </p:sp>
      <p:sp>
        <p:nvSpPr>
          <p:cNvPr id="11" name="Rounded Rectangle 10"/>
          <p:cNvSpPr/>
          <p:nvPr/>
        </p:nvSpPr>
        <p:spPr>
          <a:xfrm>
            <a:off x="9418319" y="3063240"/>
            <a:ext cx="7955279" cy="23317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2" name="Rectangle 11"/>
          <p:cNvSpPr/>
          <p:nvPr/>
        </p:nvSpPr>
        <p:spPr>
          <a:xfrm>
            <a:off x="9418319" y="3063240"/>
            <a:ext cx="164592" cy="233172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9799" y="3319272"/>
            <a:ext cx="7223759" cy="640080"/>
          </a:xfrm>
          <a:prstGeom prst="rect">
            <a:avLst/>
          </a:prstGeom>
          <a:noFill/>
        </p:spPr>
        <p:txBody>
          <a:bodyPr wrap="square" anchor="t" lIns="0" rIns="0" tIns="0" bIns="0">
            <a:spAutoFit/>
          </a:bodyPr>
          <a:lstStyle/>
          <a:p>
            <a:pPr algn="l">
              <a:spcAft>
                <a:spcPts val="300"/>
              </a:spcAft>
            </a:pPr>
            <a:r>
              <a:rPr sz="1900" b="1">
                <a:solidFill>
                  <a:srgbClr val="003E54"/>
                </a:solidFill>
                <a:latin typeface="Inter"/>
              </a:rPr>
              <a:t>Làm việc với hãng hàng không</a:t>
            </a:r>
          </a:p>
        </p:txBody>
      </p:sp>
      <p:sp>
        <p:nvSpPr>
          <p:cNvPr id="14" name="TextBox 13"/>
          <p:cNvSpPr txBox="1"/>
          <p:nvPr/>
        </p:nvSpPr>
        <p:spPr>
          <a:xfrm>
            <a:off x="9829799" y="4023360"/>
            <a:ext cx="7178040" cy="1234439"/>
          </a:xfrm>
          <a:prstGeom prst="rect">
            <a:avLst/>
          </a:prstGeom>
          <a:noFill/>
        </p:spPr>
        <p:txBody>
          <a:bodyPr wrap="square" anchor="t" lIns="0" rIns="0" tIns="0" bIns="0">
            <a:spAutoFit/>
          </a:bodyPr>
          <a:lstStyle/>
          <a:p>
            <a:pPr algn="l">
              <a:lnSpc>
                <a:spcPct val="112000"/>
              </a:lnSpc>
              <a:spcAft>
                <a:spcPts val="300"/>
              </a:spcAft>
            </a:pPr>
            <a:r>
              <a:rPr sz="1600" b="0">
                <a:solidFill>
                  <a:srgbClr val="667085"/>
                </a:solidFill>
                <a:latin typeface="Inter"/>
              </a:rPr>
              <a:t>Đồng hành cùng {{tên hãng hàng không}} trong {{phạm vi dự án}} — hiểu quy trình khai thác thực tế</a:t>
            </a:r>
          </a:p>
        </p:txBody>
      </p:sp>
      <p:sp>
        <p:nvSpPr>
          <p:cNvPr id="15" name="Rounded Rectangle 14"/>
          <p:cNvSpPr/>
          <p:nvPr/>
        </p:nvSpPr>
        <p:spPr>
          <a:xfrm>
            <a:off x="914400" y="5715000"/>
            <a:ext cx="7955279" cy="23317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16" name="Rectangle 15"/>
          <p:cNvSpPr/>
          <p:nvPr/>
        </p:nvSpPr>
        <p:spPr>
          <a:xfrm>
            <a:off x="914400" y="5715000"/>
            <a:ext cx="164592" cy="233172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5971032"/>
            <a:ext cx="7223759" cy="640080"/>
          </a:xfrm>
          <a:prstGeom prst="rect">
            <a:avLst/>
          </a:prstGeom>
          <a:noFill/>
        </p:spPr>
        <p:txBody>
          <a:bodyPr wrap="square" anchor="t" lIns="0" rIns="0" tIns="0" bIns="0">
            <a:spAutoFit/>
          </a:bodyPr>
          <a:lstStyle/>
          <a:p>
            <a:pPr algn="l">
              <a:spcAft>
                <a:spcPts val="300"/>
              </a:spcAft>
            </a:pPr>
            <a:r>
              <a:rPr sz="1900" b="1">
                <a:solidFill>
                  <a:srgbClr val="003E54"/>
                </a:solidFill>
                <a:latin typeface="Inter"/>
              </a:rPr>
              <a:t>Hợp tác nhà sản xuất / đối tác OEM</a:t>
            </a:r>
          </a:p>
        </p:txBody>
      </p:sp>
      <p:sp>
        <p:nvSpPr>
          <p:cNvPr id="18" name="TextBox 17"/>
          <p:cNvSpPr txBox="1"/>
          <p:nvPr/>
        </p:nvSpPr>
        <p:spPr>
          <a:xfrm>
            <a:off x="1325880" y="6675120"/>
            <a:ext cx="7178040" cy="1234439"/>
          </a:xfrm>
          <a:prstGeom prst="rect">
            <a:avLst/>
          </a:prstGeom>
          <a:noFill/>
        </p:spPr>
        <p:txBody>
          <a:bodyPr wrap="square" anchor="t" lIns="0" rIns="0" tIns="0" bIns="0">
            <a:spAutoFit/>
          </a:bodyPr>
          <a:lstStyle/>
          <a:p>
            <a:pPr algn="l">
              <a:lnSpc>
                <a:spcPct val="112000"/>
              </a:lnSpc>
              <a:spcAft>
                <a:spcPts val="300"/>
              </a:spcAft>
            </a:pPr>
            <a:r>
              <a:rPr sz="1600" b="0">
                <a:solidFill>
                  <a:srgbClr val="667085"/>
                </a:solidFill>
                <a:latin typeface="Inter"/>
              </a:rPr>
              <a:t>Kinh nghiệm tích hợp với {{nhà sản xuất tàu bay / hệ thống AMOS, LIDO, MO+…}}</a:t>
            </a:r>
          </a:p>
        </p:txBody>
      </p:sp>
      <p:sp>
        <p:nvSpPr>
          <p:cNvPr id="19" name="Rounded Rectangle 18"/>
          <p:cNvSpPr/>
          <p:nvPr/>
        </p:nvSpPr>
        <p:spPr>
          <a:xfrm>
            <a:off x="9418319" y="5715000"/>
            <a:ext cx="7955279" cy="2331720"/>
          </a:xfrm>
          <a:prstGeom prst="roundRect">
            <a:avLst>
              <a:gd name="adj" fmla="val 6000"/>
            </a:avLst>
          </a:prstGeom>
          <a:solidFill>
            <a:srgbClr val="FFFFFF"/>
          </a:solidFill>
          <a:ln w="1270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54864" bIns="54864"/>
          <a:lstStyle/>
          <a:p>
            <a:pPr algn="ctr"/>
          </a:p>
        </p:txBody>
      </p:sp>
      <p:sp>
        <p:nvSpPr>
          <p:cNvPr id="20" name="Rectangle 19"/>
          <p:cNvSpPr/>
          <p:nvPr/>
        </p:nvSpPr>
        <p:spPr>
          <a:xfrm>
            <a:off x="9418319" y="5715000"/>
            <a:ext cx="164592" cy="2331720"/>
          </a:xfrm>
          <a:prstGeom prst="rect">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799" y="5971032"/>
            <a:ext cx="7223759" cy="640080"/>
          </a:xfrm>
          <a:prstGeom prst="rect">
            <a:avLst/>
          </a:prstGeom>
          <a:noFill/>
        </p:spPr>
        <p:txBody>
          <a:bodyPr wrap="square" anchor="t" lIns="0" rIns="0" tIns="0" bIns="0">
            <a:spAutoFit/>
          </a:bodyPr>
          <a:lstStyle/>
          <a:p>
            <a:pPr algn="l">
              <a:spcAft>
                <a:spcPts val="300"/>
              </a:spcAft>
            </a:pPr>
            <a:r>
              <a:rPr sz="1900" b="1">
                <a:solidFill>
                  <a:srgbClr val="003E54"/>
                </a:solidFill>
                <a:latin typeface="Inter"/>
              </a:rPr>
              <a:t>Năng lực công nghệ lõi</a:t>
            </a:r>
          </a:p>
        </p:txBody>
      </p:sp>
      <p:sp>
        <p:nvSpPr>
          <p:cNvPr id="22" name="TextBox 21"/>
          <p:cNvSpPr txBox="1"/>
          <p:nvPr/>
        </p:nvSpPr>
        <p:spPr>
          <a:xfrm>
            <a:off x="9829799" y="6675120"/>
            <a:ext cx="7178040" cy="1234439"/>
          </a:xfrm>
          <a:prstGeom prst="rect">
            <a:avLst/>
          </a:prstGeom>
          <a:noFill/>
        </p:spPr>
        <p:txBody>
          <a:bodyPr wrap="square" anchor="t" lIns="0" rIns="0" tIns="0" bIns="0">
            <a:spAutoFit/>
          </a:bodyPr>
          <a:lstStyle/>
          <a:p>
            <a:pPr algn="l">
              <a:lnSpc>
                <a:spcPct val="112000"/>
              </a:lnSpc>
              <a:spcAft>
                <a:spcPts val="300"/>
              </a:spcAft>
            </a:pPr>
            <a:r>
              <a:rPr sz="1600" b="0">
                <a:solidFill>
                  <a:srgbClr val="667085"/>
                </a:solidFill>
                <a:latin typeface="Inter"/>
              </a:rPr>
              <a:t>Microservices · cloud-native · dữ liệu lớn · bảo mật — đã chứng minh qua nhiều dự án quy mô lớn của Viettel</a:t>
            </a:r>
          </a:p>
        </p:txBody>
      </p:sp>
      <p:sp>
        <p:nvSpPr>
          <p:cNvPr id="23" name="Rounded Rectangle 22"/>
          <p:cNvSpPr/>
          <p:nvPr/>
        </p:nvSpPr>
        <p:spPr>
          <a:xfrm>
            <a:off x="914400" y="8229600"/>
            <a:ext cx="16459200" cy="868680"/>
          </a:xfrm>
          <a:prstGeom prst="roundRect">
            <a:avLst>
              <a:gd name="adj" fmla="val 6000"/>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1500" b="1">
                <a:solidFill>
                  <a:srgbClr val="FFFFFF"/>
                </a:solidFill>
                <a:latin typeface="Inter"/>
              </a:rPr>
              <a:t>Quy mô đội ngũ: {{số lượng}} chuyên gia  ·  Chứng chỉ: {{PMP · K8s · bảo mật…}}  ·  Đội vận hành O&amp;M 24/7 chuyên trách</a:t>
            </a:r>
          </a:p>
        </p:txBody>
      </p:sp>
      <p:sp>
        <p:nvSpPr>
          <p:cNvPr id="24" name="TextBox 23"/>
          <p:cNvSpPr txBox="1"/>
          <p:nvPr/>
        </p:nvSpPr>
        <p:spPr>
          <a:xfrm>
            <a:off x="914400" y="9784080"/>
            <a:ext cx="10972800" cy="365760"/>
          </a:xfrm>
          <a:prstGeom prst="rect">
            <a:avLst/>
          </a:prstGeom>
          <a:noFill/>
        </p:spPr>
        <p:txBody>
          <a:bodyPr wrap="square" anchor="t" lIns="0" rIns="0" tIns="0" bIns="0">
            <a:spAutoFit/>
          </a:bodyPr>
          <a:lstStyle/>
          <a:p>
            <a:pPr algn="l">
              <a:spcAft>
                <a:spcPts val="300"/>
              </a:spcAft>
            </a:pPr>
            <a:r>
              <a:rPr sz="1100" b="0">
                <a:solidFill>
                  <a:srgbClr val="667085"/>
                </a:solidFill>
                <a:latin typeface="Inter"/>
              </a:rPr>
              <a:t>TOSS — Hệ thống Tối ưu Điều hành Khai thác</a:t>
            </a:r>
          </a:p>
        </p:txBody>
      </p:sp>
      <p:sp>
        <p:nvSpPr>
          <p:cNvPr id="25" name="TextBox 24"/>
          <p:cNvSpPr txBox="1"/>
          <p:nvPr/>
        </p:nvSpPr>
        <p:spPr>
          <a:xfrm>
            <a:off x="14630400" y="9784080"/>
            <a:ext cx="2743200" cy="365760"/>
          </a:xfrm>
          <a:prstGeom prst="rect">
            <a:avLst/>
          </a:prstGeom>
          <a:noFill/>
        </p:spPr>
        <p:txBody>
          <a:bodyPr wrap="square" anchor="t" lIns="0" rIns="0" tIns="0" bIns="0">
            <a:spAutoFit/>
          </a:bodyPr>
          <a:lstStyle/>
          <a:p>
            <a:pPr algn="r">
              <a:spcAft>
                <a:spcPts val="300"/>
              </a:spcAft>
            </a:pPr>
            <a:r>
              <a:rPr sz="1100" b="0">
                <a:solidFill>
                  <a:srgbClr val="667085"/>
                </a:solidFill>
                <a:latin typeface="Inter"/>
              </a:rPr>
              <a:t>VTIT × VNA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10287000"/>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15544800" cy="914400"/>
          </a:xfrm>
          <a:prstGeom prst="rect">
            <a:avLst/>
          </a:prstGeom>
          <a:noFill/>
        </p:spPr>
        <p:txBody>
          <a:bodyPr wrap="square" anchor="t" lIns="0" rIns="0" tIns="0" bIns="0">
            <a:spAutoFit/>
          </a:bodyPr>
          <a:lstStyle/>
          <a:p>
            <a:pPr algn="l">
              <a:spcAft>
                <a:spcPts val="300"/>
              </a:spcAft>
            </a:pPr>
            <a:r>
              <a:rPr sz="4400" b="1">
                <a:solidFill>
                  <a:srgbClr val="FFFFFF"/>
                </a:solidFill>
                <a:latin typeface="Inter"/>
              </a:rPr>
              <a:t>Cam kết &amp; giá trị</a:t>
            </a:r>
          </a:p>
        </p:txBody>
      </p:sp>
      <p:sp>
        <p:nvSpPr>
          <p:cNvPr id="5" name="Rectangle 4"/>
          <p:cNvSpPr/>
          <p:nvPr/>
        </p:nvSpPr>
        <p:spPr>
          <a:xfrm>
            <a:off x="1417320" y="2286000"/>
            <a:ext cx="2377440" cy="73152"/>
          </a:xfrm>
          <a:prstGeom prst="rect">
            <a:avLst/>
          </a:prstGeom>
          <a:solidFill>
            <a:srgbClr val="FAD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71600" y="2926080"/>
            <a:ext cx="640080" cy="640080"/>
          </a:xfrm>
          <a:prstGeom prst="ellipse">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200" b="1">
                <a:solidFill>
                  <a:srgbClr val="FFFFFF"/>
                </a:solidFill>
                <a:latin typeface="Inter"/>
              </a:rPr>
              <a:t>✓</a:t>
            </a:r>
          </a:p>
        </p:txBody>
      </p:sp>
      <p:sp>
        <p:nvSpPr>
          <p:cNvPr id="7" name="TextBox 6"/>
          <p:cNvSpPr txBox="1"/>
          <p:nvPr/>
        </p:nvSpPr>
        <p:spPr>
          <a:xfrm>
            <a:off x="2377440" y="2926080"/>
            <a:ext cx="14630400" cy="731520"/>
          </a:xfrm>
          <a:prstGeom prst="rect">
            <a:avLst/>
          </a:prstGeom>
          <a:noFill/>
        </p:spPr>
        <p:txBody>
          <a:bodyPr wrap="square" anchor="ctr" lIns="0" rIns="0" tIns="0" bIns="0">
            <a:spAutoFit/>
          </a:bodyPr>
          <a:lstStyle/>
          <a:p>
            <a:pPr algn="l">
              <a:spcAft>
                <a:spcPts val="300"/>
              </a:spcAft>
            </a:pPr>
            <a:r>
              <a:rPr sz="2400" b="1">
                <a:solidFill>
                  <a:srgbClr val="EAF4F8"/>
                </a:solidFill>
                <a:latin typeface="Inter"/>
              </a:rPr>
              <a:t>Gom dữ liệu về một mối → quyết định nhanh, đồng bộ</a:t>
            </a:r>
          </a:p>
        </p:txBody>
      </p:sp>
      <p:sp>
        <p:nvSpPr>
          <p:cNvPr id="8" name="Oval 7"/>
          <p:cNvSpPr/>
          <p:nvPr/>
        </p:nvSpPr>
        <p:spPr>
          <a:xfrm>
            <a:off x="1371600" y="4160520"/>
            <a:ext cx="640080" cy="640080"/>
          </a:xfrm>
          <a:prstGeom prst="ellipse">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200" b="1">
                <a:solidFill>
                  <a:srgbClr val="FFFFFF"/>
                </a:solidFill>
                <a:latin typeface="Inter"/>
              </a:rPr>
              <a:t>✓</a:t>
            </a:r>
          </a:p>
        </p:txBody>
      </p:sp>
      <p:sp>
        <p:nvSpPr>
          <p:cNvPr id="9" name="TextBox 8"/>
          <p:cNvSpPr txBox="1"/>
          <p:nvPr/>
        </p:nvSpPr>
        <p:spPr>
          <a:xfrm>
            <a:off x="2377440" y="4160520"/>
            <a:ext cx="14630400" cy="731520"/>
          </a:xfrm>
          <a:prstGeom prst="rect">
            <a:avLst/>
          </a:prstGeom>
          <a:noFill/>
        </p:spPr>
        <p:txBody>
          <a:bodyPr wrap="square" anchor="ctr" lIns="0" rIns="0" tIns="0" bIns="0">
            <a:spAutoFit/>
          </a:bodyPr>
          <a:lstStyle/>
          <a:p>
            <a:pPr algn="l">
              <a:spcAft>
                <a:spcPts val="300"/>
              </a:spcAft>
            </a:pPr>
            <a:r>
              <a:rPr sz="2400" b="1">
                <a:solidFill>
                  <a:srgbClr val="EAF4F8"/>
                </a:solidFill>
                <a:latin typeface="Inter"/>
              </a:rPr>
              <a:t>Tiết kiệm thật: nhiên liệu · đường bay · đúng giờ</a:t>
            </a:r>
          </a:p>
        </p:txBody>
      </p:sp>
      <p:sp>
        <p:nvSpPr>
          <p:cNvPr id="10" name="Oval 9"/>
          <p:cNvSpPr/>
          <p:nvPr/>
        </p:nvSpPr>
        <p:spPr>
          <a:xfrm>
            <a:off x="1371600" y="5394960"/>
            <a:ext cx="640080" cy="640080"/>
          </a:xfrm>
          <a:prstGeom prst="ellipse">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200" b="1">
                <a:solidFill>
                  <a:srgbClr val="FFFFFF"/>
                </a:solidFill>
                <a:latin typeface="Inter"/>
              </a:rPr>
              <a:t>✓</a:t>
            </a:r>
          </a:p>
        </p:txBody>
      </p:sp>
      <p:sp>
        <p:nvSpPr>
          <p:cNvPr id="11" name="TextBox 10"/>
          <p:cNvSpPr txBox="1"/>
          <p:nvPr/>
        </p:nvSpPr>
        <p:spPr>
          <a:xfrm>
            <a:off x="2377440" y="5394960"/>
            <a:ext cx="14630400" cy="731520"/>
          </a:xfrm>
          <a:prstGeom prst="rect">
            <a:avLst/>
          </a:prstGeom>
          <a:noFill/>
        </p:spPr>
        <p:txBody>
          <a:bodyPr wrap="square" anchor="ctr" lIns="0" rIns="0" tIns="0" bIns="0">
            <a:spAutoFit/>
          </a:bodyPr>
          <a:lstStyle/>
          <a:p>
            <a:pPr algn="l">
              <a:spcAft>
                <a:spcPts val="300"/>
              </a:spcAft>
            </a:pPr>
            <a:r>
              <a:rPr sz="2400" b="1">
                <a:solidFill>
                  <a:srgbClr val="EAF4F8"/>
                </a:solidFill>
                <a:latin typeface="Inter"/>
              </a:rPr>
              <a:t>Kiến trúc mở, sẵn sàng cho AI</a:t>
            </a:r>
          </a:p>
        </p:txBody>
      </p:sp>
      <p:sp>
        <p:nvSpPr>
          <p:cNvPr id="12" name="Oval 11"/>
          <p:cNvSpPr/>
          <p:nvPr/>
        </p:nvSpPr>
        <p:spPr>
          <a:xfrm>
            <a:off x="1371600" y="6629400"/>
            <a:ext cx="640080" cy="640080"/>
          </a:xfrm>
          <a:prstGeom prst="ellipse">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200" b="1">
                <a:solidFill>
                  <a:srgbClr val="FFFFFF"/>
                </a:solidFill>
                <a:latin typeface="Inter"/>
              </a:rPr>
              <a:t>✓</a:t>
            </a:r>
          </a:p>
        </p:txBody>
      </p:sp>
      <p:sp>
        <p:nvSpPr>
          <p:cNvPr id="13" name="TextBox 12"/>
          <p:cNvSpPr txBox="1"/>
          <p:nvPr/>
        </p:nvSpPr>
        <p:spPr>
          <a:xfrm>
            <a:off x="2377440" y="6629400"/>
            <a:ext cx="14630400" cy="731520"/>
          </a:xfrm>
          <a:prstGeom prst="rect">
            <a:avLst/>
          </a:prstGeom>
          <a:noFill/>
        </p:spPr>
        <p:txBody>
          <a:bodyPr wrap="square" anchor="ctr" lIns="0" rIns="0" tIns="0" bIns="0">
            <a:spAutoFit/>
          </a:bodyPr>
          <a:lstStyle/>
          <a:p>
            <a:pPr algn="l">
              <a:spcAft>
                <a:spcPts val="300"/>
              </a:spcAft>
            </a:pPr>
            <a:r>
              <a:rPr sz="2400" b="1">
                <a:solidFill>
                  <a:srgbClr val="EAF4F8"/>
                </a:solidFill>
                <a:latin typeface="Inter"/>
              </a:rPr>
              <a:t>An toàn, tuân thủ, dữ liệu thuộc VNA</a:t>
            </a:r>
          </a:p>
        </p:txBody>
      </p:sp>
      <p:sp>
        <p:nvSpPr>
          <p:cNvPr id="14" name="Oval 13"/>
          <p:cNvSpPr/>
          <p:nvPr/>
        </p:nvSpPr>
        <p:spPr>
          <a:xfrm>
            <a:off x="1371600" y="7863840"/>
            <a:ext cx="640080" cy="640080"/>
          </a:xfrm>
          <a:prstGeom prst="ellipse">
            <a:avLst/>
          </a:prstGeom>
          <a:solidFill>
            <a:srgbClr val="0090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54864" bIns="54864"/>
          <a:lstStyle/>
          <a:p>
            <a:pPr algn="ctr">
              <a:spcAft>
                <a:spcPts val="300"/>
              </a:spcAft>
            </a:pPr>
            <a:r>
              <a:rPr sz="2200" b="1">
                <a:solidFill>
                  <a:srgbClr val="FFFFFF"/>
                </a:solidFill>
                <a:latin typeface="Inter"/>
              </a:rPr>
              <a:t>✓</a:t>
            </a:r>
          </a:p>
        </p:txBody>
      </p:sp>
      <p:sp>
        <p:nvSpPr>
          <p:cNvPr id="15" name="TextBox 14"/>
          <p:cNvSpPr txBox="1"/>
          <p:nvPr/>
        </p:nvSpPr>
        <p:spPr>
          <a:xfrm>
            <a:off x="2377440" y="7863840"/>
            <a:ext cx="14630400" cy="731520"/>
          </a:xfrm>
          <a:prstGeom prst="rect">
            <a:avLst/>
          </a:prstGeom>
          <a:noFill/>
        </p:spPr>
        <p:txBody>
          <a:bodyPr wrap="square" anchor="ctr" lIns="0" rIns="0" tIns="0" bIns="0">
            <a:spAutoFit/>
          </a:bodyPr>
          <a:lstStyle/>
          <a:p>
            <a:pPr algn="l">
              <a:spcAft>
                <a:spcPts val="300"/>
              </a:spcAft>
            </a:pPr>
            <a:r>
              <a:rPr sz="2400" b="1">
                <a:solidFill>
                  <a:srgbClr val="EAF4F8"/>
                </a:solidFill>
                <a:latin typeface="Inter"/>
              </a:rPr>
              <a:t>Đồng hành vận hành 5 năm, SLA ≥ 99%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91840"/>
            <a:ext cx="18288000" cy="1828800"/>
          </a:xfrm>
          <a:prstGeom prst="rect">
            <a:avLst/>
          </a:prstGeom>
          <a:noFill/>
        </p:spPr>
        <p:txBody>
          <a:bodyPr wrap="square" anchor="t" lIns="0" rIns="0" tIns="0" bIns="0">
            <a:spAutoFit/>
          </a:bodyPr>
          <a:lstStyle/>
          <a:p>
            <a:pPr algn="ctr">
              <a:spcAft>
                <a:spcPts val="300"/>
              </a:spcAft>
            </a:pPr>
            <a:r>
              <a:rPr sz="9600" b="1">
                <a:solidFill>
                  <a:srgbClr val="FFFFFF"/>
                </a:solidFill>
                <a:latin typeface="Inter"/>
              </a:rPr>
              <a:t>Q &amp; A</a:t>
            </a:r>
          </a:p>
        </p:txBody>
      </p:sp>
      <p:sp>
        <p:nvSpPr>
          <p:cNvPr id="4" name="TextBox 3"/>
          <p:cNvSpPr txBox="1"/>
          <p:nvPr/>
        </p:nvSpPr>
        <p:spPr>
          <a:xfrm>
            <a:off x="0" y="5212080"/>
            <a:ext cx="18288000" cy="731520"/>
          </a:xfrm>
          <a:prstGeom prst="rect">
            <a:avLst/>
          </a:prstGeom>
          <a:noFill/>
        </p:spPr>
        <p:txBody>
          <a:bodyPr wrap="square" anchor="t" lIns="0" rIns="0" tIns="0" bIns="0">
            <a:spAutoFit/>
          </a:bodyPr>
          <a:lstStyle/>
          <a:p>
            <a:pPr algn="ctr">
              <a:spcAft>
                <a:spcPts val="300"/>
              </a:spcAft>
            </a:pPr>
            <a:r>
              <a:rPr sz="2800" b="0">
                <a:solidFill>
                  <a:srgbClr val="9FC6D4"/>
                </a:solidFill>
                <a:latin typeface="Inter"/>
              </a:rPr>
              <a:t>Trao đổi &amp; thảo luận</a:t>
            </a:r>
          </a:p>
        </p:txBody>
      </p:sp>
      <p:sp>
        <p:nvSpPr>
          <p:cNvPr id="5" name="TextBox 4"/>
          <p:cNvSpPr txBox="1"/>
          <p:nvPr/>
        </p:nvSpPr>
        <p:spPr>
          <a:xfrm>
            <a:off x="0" y="8595360"/>
            <a:ext cx="18288000" cy="548640"/>
          </a:xfrm>
          <a:prstGeom prst="rect">
            <a:avLst/>
          </a:prstGeom>
          <a:noFill/>
        </p:spPr>
        <p:txBody>
          <a:bodyPr wrap="square" anchor="t" lIns="0" rIns="0" tIns="0" bIns="0">
            <a:spAutoFit/>
          </a:bodyPr>
          <a:lstStyle/>
          <a:p>
            <a:pPr algn="ctr">
              <a:spcAft>
                <a:spcPts val="300"/>
              </a:spcAft>
            </a:pPr>
            <a:r>
              <a:rPr sz="1800" b="0">
                <a:solidFill>
                  <a:srgbClr val="9FC6D4"/>
                </a:solidFill>
                <a:latin typeface="Inter"/>
              </a:rPr>
              <a:t>{{tên đầu mối}}   ·   {{email}}   ·   {{điện thoại}}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1313</Words>
  <Application>Microsoft Office PowerPoint</Application>
  <PresentationFormat>Custom</PresentationFormat>
  <Paragraphs>158</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Helvetica Neue</vt:lpstr>
      <vt:lpstr>Inter</vt:lpstr>
      <vt:lpstr>Inter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Cảm ơn Quý vị đã lắng nghe</dc:title>
  <cp:lastModifiedBy>VTIT</cp:lastModifiedBy>
  <cp:revision>26</cp:revision>
  <dcterms:created xsi:type="dcterms:W3CDTF">2006-08-16T00:00:00Z</dcterms:created>
  <dcterms:modified xsi:type="dcterms:W3CDTF">2026-05-29T08:21:22Z</dcterms:modified>
  <dc:identifier>DAHJog69tQ8</dc:identifier>
</cp:coreProperties>
</file>